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7" r:id="rId8"/>
    <p:sldId id="259" r:id="rId9"/>
    <p:sldId id="268" r:id="rId10"/>
    <p:sldId id="260" r:id="rId11"/>
    <p:sldId id="286" r:id="rId12"/>
    <p:sldId id="277" r:id="rId13"/>
    <p:sldId id="278" r:id="rId14"/>
    <p:sldId id="297" r:id="rId15"/>
    <p:sldId id="281" r:id="rId16"/>
    <p:sldId id="271" r:id="rId17"/>
    <p:sldId id="272" r:id="rId18"/>
    <p:sldId id="287" r:id="rId19"/>
    <p:sldId id="288" r:id="rId20"/>
    <p:sldId id="289" r:id="rId21"/>
    <p:sldId id="282" r:id="rId22"/>
    <p:sldId id="283" r:id="rId23"/>
    <p:sldId id="284" r:id="rId24"/>
    <p:sldId id="293" r:id="rId25"/>
    <p:sldId id="298" r:id="rId26"/>
    <p:sldId id="300" r:id="rId27"/>
    <p:sldId id="302" r:id="rId28"/>
    <p:sldId id="291" r:id="rId29"/>
    <p:sldId id="303" r:id="rId30"/>
    <p:sldId id="305" r:id="rId31"/>
    <p:sldId id="307" r:id="rId32"/>
    <p:sldId id="308" r:id="rId33"/>
    <p:sldId id="294" r:id="rId34"/>
    <p:sldId id="295" r:id="rId35"/>
    <p:sldId id="296" r:id="rId36"/>
    <p:sldId id="309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07F00-D748-9177-0447-7ABECE318F0A}" v="2115" dt="2025-12-06T06:53:01.995"/>
    <p1510:client id="{188B399A-52AA-2899-9271-1D4623CCBC7F}" v="5" dt="2025-12-05T10:20:15.716"/>
    <p1510:client id="{204366CF-D2CA-6EC6-2252-2DEBC64A5B3C}" v="1015" dt="2025-12-05T12:42:56.092"/>
    <p1510:client id="{4105870E-2A72-FFB7-F16E-FD86DBE3278A}" v="646" dt="2025-12-06T11:38:18.326"/>
    <p1510:client id="{4FCD932C-339C-5FFE-829C-3494FBC9977C}" v="585" dt="2025-12-06T10:52:57.777"/>
    <p1510:client id="{928A733B-086A-F6C0-3D4C-44595B0A417B}" v="2060" dt="2025-12-05T06:40:13.534"/>
    <p1510:client id="{9926153A-5D77-2B4E-50C3-983361F68555}" v="1074" dt="2025-12-05T12:30:29.889"/>
    <p1510:client id="{BB6D445B-3563-CDCE-282A-1C0B54001198}" v="175" dt="2025-12-05T12:46:04.795"/>
    <p1510:client id="{DE539C61-824D-A524-D498-29B86A9DFF10}" v="1620" dt="2025-12-06T11:34:54.490"/>
    <p1510:client id="{FA4F2625-8846-799D-8CDF-AC560D599AA5}" v="921" dt="2025-12-05T06:35:46.810"/>
    <p1510:client id="{FB8F6CFE-D406-2A1E-9874-C787A5929279}" v="208" dt="2025-12-05T13:13:08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ogang365-my.sharepoint.com/personal/duram21_o365_sogang_ac_kr/Documents/Presentation_LineMarke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ogang365-my.sharepoint.com/personal/duram21_o365_sogang_ac_kr/Documents/Presentation_LineMarker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ogang365-my.sharepoint.com/personal/duram21_o365_sogang_ac_kr/Documents/Presentation_LineMarker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428</c:v>
                </c:pt>
                <c:pt idx="1">
                  <c:v>328</c:v>
                </c:pt>
                <c:pt idx="2">
                  <c:v>468</c:v>
                </c:pt>
                <c:pt idx="3">
                  <c:v>594</c:v>
                </c:pt>
                <c:pt idx="4">
                  <c:v>346</c:v>
                </c:pt>
                <c:pt idx="5">
                  <c:v>252</c:v>
                </c:pt>
                <c:pt idx="6">
                  <c:v>366</c:v>
                </c:pt>
                <c:pt idx="7">
                  <c:v>338</c:v>
                </c:pt>
                <c:pt idx="8">
                  <c:v>306</c:v>
                </c:pt>
                <c:pt idx="9">
                  <c:v>366</c:v>
                </c:pt>
                <c:pt idx="10">
                  <c:v>350</c:v>
                </c:pt>
                <c:pt idx="11">
                  <c:v>356</c:v>
                </c:pt>
                <c:pt idx="12">
                  <c:v>438</c:v>
                </c:pt>
                <c:pt idx="13">
                  <c:v>346</c:v>
                </c:pt>
                <c:pt idx="14">
                  <c:v>280</c:v>
                </c:pt>
                <c:pt idx="15">
                  <c:v>418</c:v>
                </c:pt>
                <c:pt idx="16">
                  <c:v>296</c:v>
                </c:pt>
                <c:pt idx="17">
                  <c:v>312</c:v>
                </c:pt>
                <c:pt idx="18">
                  <c:v>384</c:v>
                </c:pt>
                <c:pt idx="19">
                  <c:v>316</c:v>
                </c:pt>
                <c:pt idx="20">
                  <c:v>324</c:v>
                </c:pt>
                <c:pt idx="21">
                  <c:v>352</c:v>
                </c:pt>
                <c:pt idx="22">
                  <c:v>318</c:v>
                </c:pt>
                <c:pt idx="23">
                  <c:v>312</c:v>
                </c:pt>
                <c:pt idx="24">
                  <c:v>418</c:v>
                </c:pt>
                <c:pt idx="25">
                  <c:v>380</c:v>
                </c:pt>
                <c:pt idx="26">
                  <c:v>446</c:v>
                </c:pt>
                <c:pt idx="27">
                  <c:v>408</c:v>
                </c:pt>
                <c:pt idx="28">
                  <c:v>448</c:v>
                </c:pt>
                <c:pt idx="29">
                  <c:v>288</c:v>
                </c:pt>
                <c:pt idx="30">
                  <c:v>388</c:v>
                </c:pt>
                <c:pt idx="31">
                  <c:v>362</c:v>
                </c:pt>
                <c:pt idx="32">
                  <c:v>610</c:v>
                </c:pt>
                <c:pt idx="33">
                  <c:v>522</c:v>
                </c:pt>
                <c:pt idx="34">
                  <c:v>412</c:v>
                </c:pt>
                <c:pt idx="35">
                  <c:v>302</c:v>
                </c:pt>
                <c:pt idx="36">
                  <c:v>202</c:v>
                </c:pt>
                <c:pt idx="37">
                  <c:v>382</c:v>
                </c:pt>
                <c:pt idx="38">
                  <c:v>324</c:v>
                </c:pt>
                <c:pt idx="39">
                  <c:v>416</c:v>
                </c:pt>
                <c:pt idx="40">
                  <c:v>368</c:v>
                </c:pt>
                <c:pt idx="41">
                  <c:v>356</c:v>
                </c:pt>
                <c:pt idx="42">
                  <c:v>340</c:v>
                </c:pt>
                <c:pt idx="43">
                  <c:v>306</c:v>
                </c:pt>
                <c:pt idx="44">
                  <c:v>386</c:v>
                </c:pt>
                <c:pt idx="45">
                  <c:v>436</c:v>
                </c:pt>
                <c:pt idx="46">
                  <c:v>342</c:v>
                </c:pt>
                <c:pt idx="47">
                  <c:v>310</c:v>
                </c:pt>
                <c:pt idx="48">
                  <c:v>414</c:v>
                </c:pt>
                <c:pt idx="49">
                  <c:v>428</c:v>
                </c:pt>
                <c:pt idx="50">
                  <c:v>306</c:v>
                </c:pt>
                <c:pt idx="51">
                  <c:v>330</c:v>
                </c:pt>
                <c:pt idx="52">
                  <c:v>350</c:v>
                </c:pt>
                <c:pt idx="53">
                  <c:v>294</c:v>
                </c:pt>
                <c:pt idx="54">
                  <c:v>376</c:v>
                </c:pt>
                <c:pt idx="55">
                  <c:v>352</c:v>
                </c:pt>
                <c:pt idx="56">
                  <c:v>364</c:v>
                </c:pt>
                <c:pt idx="57">
                  <c:v>310</c:v>
                </c:pt>
                <c:pt idx="58">
                  <c:v>340</c:v>
                </c:pt>
                <c:pt idx="59">
                  <c:v>342</c:v>
                </c:pt>
                <c:pt idx="60">
                  <c:v>438</c:v>
                </c:pt>
                <c:pt idx="61">
                  <c:v>462</c:v>
                </c:pt>
                <c:pt idx="62">
                  <c:v>290</c:v>
                </c:pt>
                <c:pt idx="63">
                  <c:v>342</c:v>
                </c:pt>
                <c:pt idx="64">
                  <c:v>394</c:v>
                </c:pt>
                <c:pt idx="65">
                  <c:v>356</c:v>
                </c:pt>
                <c:pt idx="66">
                  <c:v>394</c:v>
                </c:pt>
                <c:pt idx="67">
                  <c:v>352</c:v>
                </c:pt>
                <c:pt idx="68">
                  <c:v>378</c:v>
                </c:pt>
                <c:pt idx="69">
                  <c:v>404</c:v>
                </c:pt>
                <c:pt idx="70">
                  <c:v>346</c:v>
                </c:pt>
                <c:pt idx="71">
                  <c:v>420</c:v>
                </c:pt>
                <c:pt idx="72">
                  <c:v>554</c:v>
                </c:pt>
                <c:pt idx="73">
                  <c:v>360</c:v>
                </c:pt>
                <c:pt idx="74">
                  <c:v>394</c:v>
                </c:pt>
                <c:pt idx="75">
                  <c:v>302</c:v>
                </c:pt>
                <c:pt idx="76">
                  <c:v>264</c:v>
                </c:pt>
                <c:pt idx="77">
                  <c:v>356</c:v>
                </c:pt>
                <c:pt idx="78">
                  <c:v>304</c:v>
                </c:pt>
                <c:pt idx="79">
                  <c:v>344</c:v>
                </c:pt>
                <c:pt idx="80">
                  <c:v>282</c:v>
                </c:pt>
                <c:pt idx="81">
                  <c:v>436</c:v>
                </c:pt>
                <c:pt idx="82">
                  <c:v>380</c:v>
                </c:pt>
                <c:pt idx="83">
                  <c:v>356</c:v>
                </c:pt>
                <c:pt idx="84">
                  <c:v>464</c:v>
                </c:pt>
                <c:pt idx="85">
                  <c:v>388</c:v>
                </c:pt>
                <c:pt idx="86">
                  <c:v>378</c:v>
                </c:pt>
                <c:pt idx="87">
                  <c:v>444</c:v>
                </c:pt>
                <c:pt idx="88">
                  <c:v>320</c:v>
                </c:pt>
                <c:pt idx="89">
                  <c:v>412</c:v>
                </c:pt>
                <c:pt idx="90">
                  <c:v>314</c:v>
                </c:pt>
                <c:pt idx="91">
                  <c:v>408</c:v>
                </c:pt>
                <c:pt idx="92">
                  <c:v>380</c:v>
                </c:pt>
                <c:pt idx="93">
                  <c:v>458</c:v>
                </c:pt>
                <c:pt idx="94">
                  <c:v>380</c:v>
                </c:pt>
                <c:pt idx="95">
                  <c:v>496</c:v>
                </c:pt>
                <c:pt idx="96">
                  <c:v>484</c:v>
                </c:pt>
                <c:pt idx="97">
                  <c:v>324</c:v>
                </c:pt>
                <c:pt idx="98">
                  <c:v>424</c:v>
                </c:pt>
                <c:pt idx="99">
                  <c:v>402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16-43C9-A756-EC891ED3F7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</c:v>
                </c:pt>
              </c:strCache>
            </c:strRef>
          </c:tx>
          <c:spPr>
            <a:ln w="28575" cap="rnd">
              <a:solidFill>
                <a:srgbClr val="D86DC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02B93"/>
              </a:solidFill>
              <a:ln w="9525">
                <a:solidFill>
                  <a:srgbClr val="782170"/>
                </a:solidFill>
                <a:prstDash val="solid"/>
              </a:ln>
              <a:effectLst/>
            </c:spPr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94</c:v>
                </c:pt>
                <c:pt idx="1">
                  <c:v>104</c:v>
                </c:pt>
                <c:pt idx="2">
                  <c:v>112</c:v>
                </c:pt>
                <c:pt idx="3">
                  <c:v>94</c:v>
                </c:pt>
                <c:pt idx="4">
                  <c:v>96</c:v>
                </c:pt>
                <c:pt idx="5">
                  <c:v>114</c:v>
                </c:pt>
                <c:pt idx="6">
                  <c:v>92</c:v>
                </c:pt>
                <c:pt idx="7">
                  <c:v>112</c:v>
                </c:pt>
                <c:pt idx="8">
                  <c:v>90</c:v>
                </c:pt>
                <c:pt idx="9">
                  <c:v>104</c:v>
                </c:pt>
                <c:pt idx="10">
                  <c:v>90</c:v>
                </c:pt>
                <c:pt idx="11">
                  <c:v>86</c:v>
                </c:pt>
                <c:pt idx="12">
                  <c:v>94</c:v>
                </c:pt>
                <c:pt idx="13">
                  <c:v>92</c:v>
                </c:pt>
                <c:pt idx="14">
                  <c:v>108</c:v>
                </c:pt>
                <c:pt idx="15">
                  <c:v>114</c:v>
                </c:pt>
                <c:pt idx="16">
                  <c:v>122</c:v>
                </c:pt>
                <c:pt idx="17">
                  <c:v>114</c:v>
                </c:pt>
                <c:pt idx="18">
                  <c:v>106</c:v>
                </c:pt>
                <c:pt idx="19">
                  <c:v>104</c:v>
                </c:pt>
                <c:pt idx="20">
                  <c:v>92</c:v>
                </c:pt>
                <c:pt idx="21">
                  <c:v>104</c:v>
                </c:pt>
                <c:pt idx="22">
                  <c:v>100</c:v>
                </c:pt>
                <c:pt idx="23">
                  <c:v>104</c:v>
                </c:pt>
                <c:pt idx="24">
                  <c:v>108</c:v>
                </c:pt>
                <c:pt idx="25">
                  <c:v>96</c:v>
                </c:pt>
                <c:pt idx="26">
                  <c:v>94</c:v>
                </c:pt>
                <c:pt idx="27">
                  <c:v>90</c:v>
                </c:pt>
                <c:pt idx="28">
                  <c:v>110</c:v>
                </c:pt>
                <c:pt idx="29">
                  <c:v>96</c:v>
                </c:pt>
                <c:pt idx="30">
                  <c:v>82</c:v>
                </c:pt>
                <c:pt idx="31">
                  <c:v>110</c:v>
                </c:pt>
                <c:pt idx="32">
                  <c:v>102</c:v>
                </c:pt>
                <c:pt idx="33">
                  <c:v>94</c:v>
                </c:pt>
                <c:pt idx="34">
                  <c:v>78</c:v>
                </c:pt>
                <c:pt idx="35">
                  <c:v>92</c:v>
                </c:pt>
                <c:pt idx="36">
                  <c:v>100</c:v>
                </c:pt>
                <c:pt idx="37">
                  <c:v>86</c:v>
                </c:pt>
                <c:pt idx="38">
                  <c:v>100</c:v>
                </c:pt>
                <c:pt idx="39">
                  <c:v>118</c:v>
                </c:pt>
                <c:pt idx="40">
                  <c:v>104</c:v>
                </c:pt>
                <c:pt idx="41">
                  <c:v>84</c:v>
                </c:pt>
                <c:pt idx="42">
                  <c:v>90</c:v>
                </c:pt>
                <c:pt idx="43">
                  <c:v>94</c:v>
                </c:pt>
                <c:pt idx="44">
                  <c:v>94</c:v>
                </c:pt>
                <c:pt idx="45">
                  <c:v>96</c:v>
                </c:pt>
                <c:pt idx="46">
                  <c:v>118</c:v>
                </c:pt>
                <c:pt idx="47">
                  <c:v>126</c:v>
                </c:pt>
                <c:pt idx="48">
                  <c:v>86</c:v>
                </c:pt>
                <c:pt idx="49">
                  <c:v>88</c:v>
                </c:pt>
                <c:pt idx="50">
                  <c:v>82</c:v>
                </c:pt>
                <c:pt idx="51">
                  <c:v>98</c:v>
                </c:pt>
                <c:pt idx="52">
                  <c:v>90</c:v>
                </c:pt>
                <c:pt idx="53">
                  <c:v>104</c:v>
                </c:pt>
                <c:pt idx="54">
                  <c:v>80</c:v>
                </c:pt>
                <c:pt idx="55">
                  <c:v>92</c:v>
                </c:pt>
                <c:pt idx="56">
                  <c:v>94</c:v>
                </c:pt>
                <c:pt idx="57">
                  <c:v>82</c:v>
                </c:pt>
                <c:pt idx="58">
                  <c:v>114</c:v>
                </c:pt>
                <c:pt idx="59">
                  <c:v>108</c:v>
                </c:pt>
                <c:pt idx="60">
                  <c:v>96</c:v>
                </c:pt>
                <c:pt idx="61">
                  <c:v>98</c:v>
                </c:pt>
                <c:pt idx="62">
                  <c:v>126</c:v>
                </c:pt>
                <c:pt idx="63">
                  <c:v>76</c:v>
                </c:pt>
                <c:pt idx="64">
                  <c:v>124</c:v>
                </c:pt>
                <c:pt idx="65">
                  <c:v>82</c:v>
                </c:pt>
                <c:pt idx="66">
                  <c:v>84</c:v>
                </c:pt>
                <c:pt idx="67">
                  <c:v>86</c:v>
                </c:pt>
                <c:pt idx="68">
                  <c:v>112</c:v>
                </c:pt>
                <c:pt idx="69">
                  <c:v>88</c:v>
                </c:pt>
                <c:pt idx="70">
                  <c:v>94</c:v>
                </c:pt>
                <c:pt idx="71">
                  <c:v>80</c:v>
                </c:pt>
                <c:pt idx="72">
                  <c:v>92</c:v>
                </c:pt>
                <c:pt idx="73">
                  <c:v>98</c:v>
                </c:pt>
                <c:pt idx="74">
                  <c:v>124</c:v>
                </c:pt>
                <c:pt idx="75">
                  <c:v>88</c:v>
                </c:pt>
                <c:pt idx="76">
                  <c:v>104</c:v>
                </c:pt>
                <c:pt idx="77">
                  <c:v>112</c:v>
                </c:pt>
                <c:pt idx="78">
                  <c:v>84</c:v>
                </c:pt>
                <c:pt idx="79">
                  <c:v>100</c:v>
                </c:pt>
                <c:pt idx="80">
                  <c:v>102</c:v>
                </c:pt>
                <c:pt idx="81">
                  <c:v>84</c:v>
                </c:pt>
                <c:pt idx="82">
                  <c:v>114</c:v>
                </c:pt>
                <c:pt idx="83">
                  <c:v>94</c:v>
                </c:pt>
                <c:pt idx="84">
                  <c:v>96</c:v>
                </c:pt>
                <c:pt idx="85">
                  <c:v>90</c:v>
                </c:pt>
                <c:pt idx="86">
                  <c:v>104</c:v>
                </c:pt>
                <c:pt idx="87">
                  <c:v>102</c:v>
                </c:pt>
                <c:pt idx="88">
                  <c:v>102</c:v>
                </c:pt>
                <c:pt idx="89">
                  <c:v>104</c:v>
                </c:pt>
                <c:pt idx="90">
                  <c:v>122</c:v>
                </c:pt>
                <c:pt idx="91">
                  <c:v>94</c:v>
                </c:pt>
                <c:pt idx="92">
                  <c:v>100</c:v>
                </c:pt>
                <c:pt idx="93">
                  <c:v>98</c:v>
                </c:pt>
                <c:pt idx="94">
                  <c:v>98</c:v>
                </c:pt>
                <c:pt idx="95">
                  <c:v>102</c:v>
                </c:pt>
                <c:pt idx="96">
                  <c:v>102</c:v>
                </c:pt>
                <c:pt idx="97">
                  <c:v>100</c:v>
                </c:pt>
                <c:pt idx="98">
                  <c:v>104</c:v>
                </c:pt>
                <c:pt idx="99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16-43C9-A756-EC891ED3F71F}"/>
            </c:ext>
          </c:extLst>
        </c:ser>
        <c:ser>
          <c:idx val="2"/>
          <c:order val="2"/>
          <c:tx>
            <c:v>First - Second</c:v>
          </c:tx>
          <c:spPr>
            <a:ln w="28575" cap="rnd">
              <a:solidFill>
                <a:srgbClr val="F1A98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1A983"/>
              </a:solidFill>
              <a:ln w="9525">
                <a:solidFill>
                  <a:srgbClr val="F1A983"/>
                </a:solidFill>
                <a:prstDash val="solid"/>
              </a:ln>
              <a:effectLst/>
            </c:spPr>
          </c:marker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Sheet1!$D$2:$D$101</c:f>
              <c:numCache>
                <c:formatCode>General</c:formatCode>
                <c:ptCount val="100"/>
                <c:pt idx="0">
                  <c:v>334</c:v>
                </c:pt>
                <c:pt idx="1">
                  <c:v>224</c:v>
                </c:pt>
                <c:pt idx="2">
                  <c:v>356</c:v>
                </c:pt>
                <c:pt idx="3">
                  <c:v>500</c:v>
                </c:pt>
                <c:pt idx="4">
                  <c:v>250</c:v>
                </c:pt>
                <c:pt idx="5">
                  <c:v>138</c:v>
                </c:pt>
                <c:pt idx="6">
                  <c:v>274</c:v>
                </c:pt>
                <c:pt idx="7">
                  <c:v>226</c:v>
                </c:pt>
                <c:pt idx="8">
                  <c:v>216</c:v>
                </c:pt>
                <c:pt idx="9">
                  <c:v>262</c:v>
                </c:pt>
                <c:pt idx="10">
                  <c:v>260</c:v>
                </c:pt>
                <c:pt idx="11">
                  <c:v>270</c:v>
                </c:pt>
                <c:pt idx="12">
                  <c:v>344</c:v>
                </c:pt>
                <c:pt idx="13">
                  <c:v>254</c:v>
                </c:pt>
                <c:pt idx="14">
                  <c:v>172</c:v>
                </c:pt>
                <c:pt idx="15">
                  <c:v>304</c:v>
                </c:pt>
                <c:pt idx="16">
                  <c:v>174</c:v>
                </c:pt>
                <c:pt idx="17">
                  <c:v>198</c:v>
                </c:pt>
                <c:pt idx="18">
                  <c:v>278</c:v>
                </c:pt>
                <c:pt idx="19">
                  <c:v>212</c:v>
                </c:pt>
                <c:pt idx="20">
                  <c:v>232</c:v>
                </c:pt>
                <c:pt idx="21">
                  <c:v>248</c:v>
                </c:pt>
                <c:pt idx="22">
                  <c:v>218</c:v>
                </c:pt>
                <c:pt idx="23">
                  <c:v>208</c:v>
                </c:pt>
                <c:pt idx="24">
                  <c:v>310</c:v>
                </c:pt>
                <c:pt idx="25">
                  <c:v>284</c:v>
                </c:pt>
                <c:pt idx="26">
                  <c:v>352</c:v>
                </c:pt>
                <c:pt idx="27">
                  <c:v>318</c:v>
                </c:pt>
                <c:pt idx="28">
                  <c:v>338</c:v>
                </c:pt>
                <c:pt idx="29">
                  <c:v>192</c:v>
                </c:pt>
                <c:pt idx="30">
                  <c:v>306</c:v>
                </c:pt>
                <c:pt idx="31">
                  <c:v>252</c:v>
                </c:pt>
                <c:pt idx="32">
                  <c:v>508</c:v>
                </c:pt>
                <c:pt idx="33">
                  <c:v>428</c:v>
                </c:pt>
                <c:pt idx="34">
                  <c:v>334</c:v>
                </c:pt>
                <c:pt idx="35">
                  <c:v>210</c:v>
                </c:pt>
                <c:pt idx="36">
                  <c:v>102</c:v>
                </c:pt>
                <c:pt idx="37">
                  <c:v>296</c:v>
                </c:pt>
                <c:pt idx="38">
                  <c:v>224</c:v>
                </c:pt>
                <c:pt idx="39">
                  <c:v>298</c:v>
                </c:pt>
                <c:pt idx="40">
                  <c:v>264</c:v>
                </c:pt>
                <c:pt idx="41">
                  <c:v>272</c:v>
                </c:pt>
                <c:pt idx="42">
                  <c:v>250</c:v>
                </c:pt>
                <c:pt idx="43">
                  <c:v>212</c:v>
                </c:pt>
                <c:pt idx="44">
                  <c:v>292</c:v>
                </c:pt>
                <c:pt idx="45">
                  <c:v>340</c:v>
                </c:pt>
                <c:pt idx="46">
                  <c:v>224</c:v>
                </c:pt>
                <c:pt idx="47">
                  <c:v>184</c:v>
                </c:pt>
                <c:pt idx="48">
                  <c:v>328</c:v>
                </c:pt>
                <c:pt idx="49">
                  <c:v>340</c:v>
                </c:pt>
                <c:pt idx="50">
                  <c:v>224</c:v>
                </c:pt>
                <c:pt idx="51">
                  <c:v>232</c:v>
                </c:pt>
                <c:pt idx="52">
                  <c:v>260</c:v>
                </c:pt>
                <c:pt idx="53">
                  <c:v>190</c:v>
                </c:pt>
                <c:pt idx="54">
                  <c:v>296</c:v>
                </c:pt>
                <c:pt idx="55">
                  <c:v>260</c:v>
                </c:pt>
                <c:pt idx="56">
                  <c:v>270</c:v>
                </c:pt>
                <c:pt idx="57">
                  <c:v>228</c:v>
                </c:pt>
                <c:pt idx="58">
                  <c:v>226</c:v>
                </c:pt>
                <c:pt idx="59">
                  <c:v>234</c:v>
                </c:pt>
                <c:pt idx="60">
                  <c:v>342</c:v>
                </c:pt>
                <c:pt idx="61">
                  <c:v>364</c:v>
                </c:pt>
                <c:pt idx="62">
                  <c:v>164</c:v>
                </c:pt>
                <c:pt idx="63">
                  <c:v>266</c:v>
                </c:pt>
                <c:pt idx="64">
                  <c:v>270</c:v>
                </c:pt>
                <c:pt idx="65">
                  <c:v>274</c:v>
                </c:pt>
                <c:pt idx="66">
                  <c:v>310</c:v>
                </c:pt>
                <c:pt idx="67">
                  <c:v>266</c:v>
                </c:pt>
                <c:pt idx="68">
                  <c:v>266</c:v>
                </c:pt>
                <c:pt idx="69">
                  <c:v>316</c:v>
                </c:pt>
                <c:pt idx="70">
                  <c:v>252</c:v>
                </c:pt>
                <c:pt idx="71">
                  <c:v>340</c:v>
                </c:pt>
                <c:pt idx="72">
                  <c:v>462</c:v>
                </c:pt>
                <c:pt idx="73">
                  <c:v>262</c:v>
                </c:pt>
                <c:pt idx="74">
                  <c:v>270</c:v>
                </c:pt>
                <c:pt idx="75">
                  <c:v>214</c:v>
                </c:pt>
                <c:pt idx="76">
                  <c:v>160</c:v>
                </c:pt>
                <c:pt idx="77">
                  <c:v>244</c:v>
                </c:pt>
                <c:pt idx="78">
                  <c:v>220</c:v>
                </c:pt>
                <c:pt idx="79">
                  <c:v>244</c:v>
                </c:pt>
                <c:pt idx="80">
                  <c:v>180</c:v>
                </c:pt>
                <c:pt idx="81">
                  <c:v>352</c:v>
                </c:pt>
                <c:pt idx="82">
                  <c:v>266</c:v>
                </c:pt>
                <c:pt idx="83">
                  <c:v>262</c:v>
                </c:pt>
                <c:pt idx="84">
                  <c:v>368</c:v>
                </c:pt>
                <c:pt idx="85">
                  <c:v>298</c:v>
                </c:pt>
                <c:pt idx="86">
                  <c:v>274</c:v>
                </c:pt>
                <c:pt idx="87">
                  <c:v>342</c:v>
                </c:pt>
                <c:pt idx="88">
                  <c:v>218</c:v>
                </c:pt>
                <c:pt idx="89">
                  <c:v>308</c:v>
                </c:pt>
                <c:pt idx="90">
                  <c:v>192</c:v>
                </c:pt>
                <c:pt idx="91">
                  <c:v>314</c:v>
                </c:pt>
                <c:pt idx="92">
                  <c:v>280</c:v>
                </c:pt>
                <c:pt idx="93">
                  <c:v>360</c:v>
                </c:pt>
                <c:pt idx="94">
                  <c:v>282</c:v>
                </c:pt>
                <c:pt idx="95">
                  <c:v>394</c:v>
                </c:pt>
                <c:pt idx="96">
                  <c:v>382</c:v>
                </c:pt>
                <c:pt idx="97">
                  <c:v>224</c:v>
                </c:pt>
                <c:pt idx="98">
                  <c:v>320</c:v>
                </c:pt>
                <c:pt idx="99">
                  <c:v>306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16-43C9-A756-EC891ED3F7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072576"/>
        <c:axId val="233648896"/>
      </c:lineChart>
      <c:catAx>
        <c:axId val="22207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3648896"/>
        <c:crosses val="autoZero"/>
        <c:auto val="1"/>
        <c:lblAlgn val="ctr"/>
        <c:lblOffset val="100"/>
        <c:noMultiLvlLbl val="0"/>
      </c:catAx>
      <c:valAx>
        <c:axId val="23364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2207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360</c:v>
                </c:pt>
                <c:pt idx="1">
                  <c:v>322</c:v>
                </c:pt>
                <c:pt idx="2">
                  <c:v>282</c:v>
                </c:pt>
                <c:pt idx="3">
                  <c:v>286</c:v>
                </c:pt>
                <c:pt idx="4">
                  <c:v>368</c:v>
                </c:pt>
                <c:pt idx="5">
                  <c:v>336</c:v>
                </c:pt>
                <c:pt idx="6">
                  <c:v>354</c:v>
                </c:pt>
                <c:pt idx="7">
                  <c:v>380</c:v>
                </c:pt>
                <c:pt idx="8">
                  <c:v>284</c:v>
                </c:pt>
                <c:pt idx="9">
                  <c:v>326</c:v>
                </c:pt>
                <c:pt idx="10">
                  <c:v>348</c:v>
                </c:pt>
                <c:pt idx="11">
                  <c:v>252</c:v>
                </c:pt>
                <c:pt idx="12">
                  <c:v>444</c:v>
                </c:pt>
                <c:pt idx="13">
                  <c:v>212</c:v>
                </c:pt>
                <c:pt idx="14">
                  <c:v>326</c:v>
                </c:pt>
                <c:pt idx="15">
                  <c:v>402</c:v>
                </c:pt>
                <c:pt idx="16">
                  <c:v>320</c:v>
                </c:pt>
                <c:pt idx="17">
                  <c:v>334</c:v>
                </c:pt>
                <c:pt idx="18">
                  <c:v>374</c:v>
                </c:pt>
                <c:pt idx="19">
                  <c:v>302</c:v>
                </c:pt>
                <c:pt idx="20">
                  <c:v>342</c:v>
                </c:pt>
                <c:pt idx="21">
                  <c:v>262</c:v>
                </c:pt>
                <c:pt idx="22">
                  <c:v>244</c:v>
                </c:pt>
                <c:pt idx="23">
                  <c:v>268</c:v>
                </c:pt>
                <c:pt idx="24">
                  <c:v>348</c:v>
                </c:pt>
                <c:pt idx="25">
                  <c:v>392</c:v>
                </c:pt>
                <c:pt idx="26">
                  <c:v>348</c:v>
                </c:pt>
                <c:pt idx="27">
                  <c:v>288</c:v>
                </c:pt>
                <c:pt idx="28">
                  <c:v>328</c:v>
                </c:pt>
                <c:pt idx="29">
                  <c:v>330</c:v>
                </c:pt>
                <c:pt idx="30">
                  <c:v>434</c:v>
                </c:pt>
                <c:pt idx="31">
                  <c:v>284</c:v>
                </c:pt>
                <c:pt idx="32">
                  <c:v>322</c:v>
                </c:pt>
                <c:pt idx="33">
                  <c:v>312</c:v>
                </c:pt>
                <c:pt idx="34">
                  <c:v>300</c:v>
                </c:pt>
                <c:pt idx="35">
                  <c:v>338</c:v>
                </c:pt>
                <c:pt idx="36">
                  <c:v>298</c:v>
                </c:pt>
                <c:pt idx="37">
                  <c:v>246</c:v>
                </c:pt>
                <c:pt idx="38">
                  <c:v>338</c:v>
                </c:pt>
                <c:pt idx="39">
                  <c:v>266</c:v>
                </c:pt>
                <c:pt idx="40">
                  <c:v>350</c:v>
                </c:pt>
                <c:pt idx="41">
                  <c:v>274</c:v>
                </c:pt>
                <c:pt idx="42">
                  <c:v>340</c:v>
                </c:pt>
                <c:pt idx="43">
                  <c:v>376</c:v>
                </c:pt>
                <c:pt idx="44">
                  <c:v>356</c:v>
                </c:pt>
                <c:pt idx="45">
                  <c:v>336</c:v>
                </c:pt>
                <c:pt idx="46">
                  <c:v>328</c:v>
                </c:pt>
                <c:pt idx="47">
                  <c:v>314</c:v>
                </c:pt>
                <c:pt idx="48">
                  <c:v>272</c:v>
                </c:pt>
                <c:pt idx="49">
                  <c:v>416</c:v>
                </c:pt>
                <c:pt idx="50">
                  <c:v>306</c:v>
                </c:pt>
                <c:pt idx="51">
                  <c:v>340</c:v>
                </c:pt>
                <c:pt idx="52">
                  <c:v>296</c:v>
                </c:pt>
                <c:pt idx="53">
                  <c:v>386</c:v>
                </c:pt>
                <c:pt idx="54">
                  <c:v>300</c:v>
                </c:pt>
                <c:pt idx="55">
                  <c:v>318</c:v>
                </c:pt>
                <c:pt idx="56">
                  <c:v>322</c:v>
                </c:pt>
                <c:pt idx="57">
                  <c:v>370</c:v>
                </c:pt>
                <c:pt idx="58">
                  <c:v>356</c:v>
                </c:pt>
                <c:pt idx="59">
                  <c:v>248</c:v>
                </c:pt>
                <c:pt idx="60">
                  <c:v>322</c:v>
                </c:pt>
                <c:pt idx="61">
                  <c:v>342</c:v>
                </c:pt>
                <c:pt idx="62">
                  <c:v>280</c:v>
                </c:pt>
                <c:pt idx="63">
                  <c:v>282</c:v>
                </c:pt>
                <c:pt idx="64">
                  <c:v>314</c:v>
                </c:pt>
                <c:pt idx="65">
                  <c:v>326</c:v>
                </c:pt>
                <c:pt idx="66">
                  <c:v>280</c:v>
                </c:pt>
                <c:pt idx="67">
                  <c:v>376</c:v>
                </c:pt>
                <c:pt idx="68">
                  <c:v>300</c:v>
                </c:pt>
                <c:pt idx="69">
                  <c:v>286</c:v>
                </c:pt>
                <c:pt idx="70">
                  <c:v>422</c:v>
                </c:pt>
                <c:pt idx="71">
                  <c:v>240</c:v>
                </c:pt>
                <c:pt idx="72">
                  <c:v>350</c:v>
                </c:pt>
                <c:pt idx="73">
                  <c:v>382</c:v>
                </c:pt>
                <c:pt idx="74">
                  <c:v>336</c:v>
                </c:pt>
                <c:pt idx="75">
                  <c:v>296</c:v>
                </c:pt>
                <c:pt idx="76">
                  <c:v>332</c:v>
                </c:pt>
                <c:pt idx="77">
                  <c:v>404</c:v>
                </c:pt>
                <c:pt idx="78">
                  <c:v>376</c:v>
                </c:pt>
                <c:pt idx="79">
                  <c:v>342</c:v>
                </c:pt>
                <c:pt idx="80">
                  <c:v>330</c:v>
                </c:pt>
                <c:pt idx="81">
                  <c:v>264</c:v>
                </c:pt>
                <c:pt idx="82">
                  <c:v>302</c:v>
                </c:pt>
                <c:pt idx="83">
                  <c:v>350</c:v>
                </c:pt>
                <c:pt idx="84">
                  <c:v>300</c:v>
                </c:pt>
                <c:pt idx="85">
                  <c:v>338</c:v>
                </c:pt>
                <c:pt idx="86">
                  <c:v>406</c:v>
                </c:pt>
                <c:pt idx="87">
                  <c:v>298</c:v>
                </c:pt>
                <c:pt idx="88">
                  <c:v>284</c:v>
                </c:pt>
                <c:pt idx="89">
                  <c:v>398</c:v>
                </c:pt>
                <c:pt idx="90">
                  <c:v>310</c:v>
                </c:pt>
                <c:pt idx="91">
                  <c:v>304</c:v>
                </c:pt>
                <c:pt idx="92">
                  <c:v>320</c:v>
                </c:pt>
                <c:pt idx="93">
                  <c:v>260</c:v>
                </c:pt>
                <c:pt idx="94">
                  <c:v>348</c:v>
                </c:pt>
                <c:pt idx="95">
                  <c:v>288</c:v>
                </c:pt>
                <c:pt idx="96">
                  <c:v>436</c:v>
                </c:pt>
                <c:pt idx="97">
                  <c:v>300</c:v>
                </c:pt>
                <c:pt idx="98">
                  <c:v>440</c:v>
                </c:pt>
                <c:pt idx="99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EA-40F0-BA3D-2D017306E9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</c:v>
                </c:pt>
              </c:strCache>
            </c:strRef>
          </c:tx>
          <c:spPr>
            <a:ln w="28575" cap="rnd">
              <a:solidFill>
                <a:srgbClr val="D86DC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02B93"/>
              </a:solidFill>
              <a:ln w="9525">
                <a:solidFill>
                  <a:srgbClr val="782170"/>
                </a:solidFill>
                <a:prstDash val="solid"/>
              </a:ln>
              <a:effectLst/>
            </c:spPr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300</c:v>
                </c:pt>
                <c:pt idx="1">
                  <c:v>252</c:v>
                </c:pt>
                <c:pt idx="2">
                  <c:v>340</c:v>
                </c:pt>
                <c:pt idx="3">
                  <c:v>326</c:v>
                </c:pt>
                <c:pt idx="4">
                  <c:v>258</c:v>
                </c:pt>
                <c:pt idx="5">
                  <c:v>240</c:v>
                </c:pt>
                <c:pt idx="6">
                  <c:v>306</c:v>
                </c:pt>
                <c:pt idx="7">
                  <c:v>344</c:v>
                </c:pt>
                <c:pt idx="8">
                  <c:v>258</c:v>
                </c:pt>
                <c:pt idx="9">
                  <c:v>282</c:v>
                </c:pt>
                <c:pt idx="10">
                  <c:v>292</c:v>
                </c:pt>
                <c:pt idx="11">
                  <c:v>292</c:v>
                </c:pt>
                <c:pt idx="12">
                  <c:v>288</c:v>
                </c:pt>
                <c:pt idx="13">
                  <c:v>288</c:v>
                </c:pt>
                <c:pt idx="14">
                  <c:v>322</c:v>
                </c:pt>
                <c:pt idx="15">
                  <c:v>232</c:v>
                </c:pt>
                <c:pt idx="16">
                  <c:v>304</c:v>
                </c:pt>
                <c:pt idx="17">
                  <c:v>216</c:v>
                </c:pt>
                <c:pt idx="18">
                  <c:v>262</c:v>
                </c:pt>
                <c:pt idx="19">
                  <c:v>352</c:v>
                </c:pt>
                <c:pt idx="20">
                  <c:v>298</c:v>
                </c:pt>
                <c:pt idx="21">
                  <c:v>322</c:v>
                </c:pt>
                <c:pt idx="22">
                  <c:v>276</c:v>
                </c:pt>
                <c:pt idx="23">
                  <c:v>320</c:v>
                </c:pt>
                <c:pt idx="24">
                  <c:v>284</c:v>
                </c:pt>
                <c:pt idx="25">
                  <c:v>296</c:v>
                </c:pt>
                <c:pt idx="26">
                  <c:v>242</c:v>
                </c:pt>
                <c:pt idx="27">
                  <c:v>318</c:v>
                </c:pt>
                <c:pt idx="28">
                  <c:v>336</c:v>
                </c:pt>
                <c:pt idx="29">
                  <c:v>286</c:v>
                </c:pt>
                <c:pt idx="30">
                  <c:v>342</c:v>
                </c:pt>
                <c:pt idx="31">
                  <c:v>266</c:v>
                </c:pt>
                <c:pt idx="32">
                  <c:v>294</c:v>
                </c:pt>
                <c:pt idx="33">
                  <c:v>286</c:v>
                </c:pt>
                <c:pt idx="34">
                  <c:v>288</c:v>
                </c:pt>
                <c:pt idx="35">
                  <c:v>334</c:v>
                </c:pt>
                <c:pt idx="36">
                  <c:v>332</c:v>
                </c:pt>
                <c:pt idx="37">
                  <c:v>332</c:v>
                </c:pt>
                <c:pt idx="38">
                  <c:v>240</c:v>
                </c:pt>
                <c:pt idx="39">
                  <c:v>300</c:v>
                </c:pt>
                <c:pt idx="40">
                  <c:v>242</c:v>
                </c:pt>
                <c:pt idx="41">
                  <c:v>238</c:v>
                </c:pt>
                <c:pt idx="42">
                  <c:v>312</c:v>
                </c:pt>
                <c:pt idx="43">
                  <c:v>394</c:v>
                </c:pt>
                <c:pt idx="44">
                  <c:v>266</c:v>
                </c:pt>
                <c:pt idx="45">
                  <c:v>300</c:v>
                </c:pt>
                <c:pt idx="46">
                  <c:v>266</c:v>
                </c:pt>
                <c:pt idx="47">
                  <c:v>286</c:v>
                </c:pt>
                <c:pt idx="48">
                  <c:v>288</c:v>
                </c:pt>
                <c:pt idx="49">
                  <c:v>338</c:v>
                </c:pt>
                <c:pt idx="50">
                  <c:v>314</c:v>
                </c:pt>
                <c:pt idx="51">
                  <c:v>238</c:v>
                </c:pt>
                <c:pt idx="52">
                  <c:v>268</c:v>
                </c:pt>
                <c:pt idx="53">
                  <c:v>260</c:v>
                </c:pt>
                <c:pt idx="54">
                  <c:v>252</c:v>
                </c:pt>
                <c:pt idx="55">
                  <c:v>260</c:v>
                </c:pt>
                <c:pt idx="56">
                  <c:v>266</c:v>
                </c:pt>
                <c:pt idx="57">
                  <c:v>260</c:v>
                </c:pt>
                <c:pt idx="58">
                  <c:v>266</c:v>
                </c:pt>
                <c:pt idx="59">
                  <c:v>336</c:v>
                </c:pt>
                <c:pt idx="60">
                  <c:v>318</c:v>
                </c:pt>
                <c:pt idx="61">
                  <c:v>316</c:v>
                </c:pt>
                <c:pt idx="62">
                  <c:v>268</c:v>
                </c:pt>
                <c:pt idx="63">
                  <c:v>310</c:v>
                </c:pt>
                <c:pt idx="64">
                  <c:v>294</c:v>
                </c:pt>
                <c:pt idx="65">
                  <c:v>352</c:v>
                </c:pt>
                <c:pt idx="66">
                  <c:v>262</c:v>
                </c:pt>
                <c:pt idx="67">
                  <c:v>292</c:v>
                </c:pt>
                <c:pt idx="68">
                  <c:v>258</c:v>
                </c:pt>
                <c:pt idx="69">
                  <c:v>262</c:v>
                </c:pt>
                <c:pt idx="70">
                  <c:v>234</c:v>
                </c:pt>
                <c:pt idx="71">
                  <c:v>250</c:v>
                </c:pt>
                <c:pt idx="72">
                  <c:v>284</c:v>
                </c:pt>
                <c:pt idx="73">
                  <c:v>274</c:v>
                </c:pt>
                <c:pt idx="74">
                  <c:v>280</c:v>
                </c:pt>
                <c:pt idx="75">
                  <c:v>240</c:v>
                </c:pt>
                <c:pt idx="76">
                  <c:v>278</c:v>
                </c:pt>
                <c:pt idx="77">
                  <c:v>272</c:v>
                </c:pt>
                <c:pt idx="78">
                  <c:v>232</c:v>
                </c:pt>
                <c:pt idx="79">
                  <c:v>236</c:v>
                </c:pt>
                <c:pt idx="80">
                  <c:v>254</c:v>
                </c:pt>
                <c:pt idx="81">
                  <c:v>214</c:v>
                </c:pt>
                <c:pt idx="82">
                  <c:v>280</c:v>
                </c:pt>
                <c:pt idx="83">
                  <c:v>322</c:v>
                </c:pt>
                <c:pt idx="84">
                  <c:v>262</c:v>
                </c:pt>
                <c:pt idx="85">
                  <c:v>326</c:v>
                </c:pt>
                <c:pt idx="86">
                  <c:v>314</c:v>
                </c:pt>
                <c:pt idx="87">
                  <c:v>256</c:v>
                </c:pt>
                <c:pt idx="88">
                  <c:v>326</c:v>
                </c:pt>
                <c:pt idx="89">
                  <c:v>280</c:v>
                </c:pt>
                <c:pt idx="90">
                  <c:v>294</c:v>
                </c:pt>
                <c:pt idx="91">
                  <c:v>270</c:v>
                </c:pt>
                <c:pt idx="92">
                  <c:v>292</c:v>
                </c:pt>
                <c:pt idx="93">
                  <c:v>322</c:v>
                </c:pt>
                <c:pt idx="94">
                  <c:v>288</c:v>
                </c:pt>
                <c:pt idx="95">
                  <c:v>284</c:v>
                </c:pt>
                <c:pt idx="96">
                  <c:v>330</c:v>
                </c:pt>
                <c:pt idx="97">
                  <c:v>328</c:v>
                </c:pt>
                <c:pt idx="98">
                  <c:v>246</c:v>
                </c:pt>
                <c:pt idx="99">
                  <c:v>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EA-40F0-BA3D-2D017306E900}"/>
            </c:ext>
          </c:extLst>
        </c:ser>
        <c:ser>
          <c:idx val="2"/>
          <c:order val="2"/>
          <c:tx>
            <c:v>First - Second</c:v>
          </c:tx>
          <c:spPr>
            <a:ln w="28575" cap="rnd">
              <a:solidFill>
                <a:srgbClr val="F1A98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1A983"/>
              </a:solidFill>
              <a:ln w="9525">
                <a:solidFill>
                  <a:srgbClr val="F1A983"/>
                </a:solidFill>
                <a:prstDash val="solid"/>
              </a:ln>
              <a:effectLst/>
            </c:spPr>
          </c:marker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Sheet1!$D$2:$D$101</c:f>
              <c:numCache>
                <c:formatCode>General</c:formatCode>
                <c:ptCount val="100"/>
                <c:pt idx="0">
                  <c:v>60</c:v>
                </c:pt>
                <c:pt idx="1">
                  <c:v>70</c:v>
                </c:pt>
                <c:pt idx="2">
                  <c:v>-58</c:v>
                </c:pt>
                <c:pt idx="3">
                  <c:v>-40</c:v>
                </c:pt>
                <c:pt idx="4">
                  <c:v>110</c:v>
                </c:pt>
                <c:pt idx="5">
                  <c:v>96</c:v>
                </c:pt>
                <c:pt idx="6">
                  <c:v>48</c:v>
                </c:pt>
                <c:pt idx="7">
                  <c:v>36</c:v>
                </c:pt>
                <c:pt idx="8">
                  <c:v>26</c:v>
                </c:pt>
                <c:pt idx="9">
                  <c:v>44</c:v>
                </c:pt>
                <c:pt idx="10">
                  <c:v>56</c:v>
                </c:pt>
                <c:pt idx="11">
                  <c:v>-40</c:v>
                </c:pt>
                <c:pt idx="12">
                  <c:v>156</c:v>
                </c:pt>
                <c:pt idx="13">
                  <c:v>-76</c:v>
                </c:pt>
                <c:pt idx="14">
                  <c:v>4</c:v>
                </c:pt>
                <c:pt idx="15">
                  <c:v>170</c:v>
                </c:pt>
                <c:pt idx="16">
                  <c:v>16</c:v>
                </c:pt>
                <c:pt idx="17">
                  <c:v>118</c:v>
                </c:pt>
                <c:pt idx="18">
                  <c:v>112</c:v>
                </c:pt>
                <c:pt idx="19">
                  <c:v>-50</c:v>
                </c:pt>
                <c:pt idx="20">
                  <c:v>44</c:v>
                </c:pt>
                <c:pt idx="21">
                  <c:v>-60</c:v>
                </c:pt>
                <c:pt idx="22">
                  <c:v>-32</c:v>
                </c:pt>
                <c:pt idx="23">
                  <c:v>-52</c:v>
                </c:pt>
                <c:pt idx="24">
                  <c:v>64</c:v>
                </c:pt>
                <c:pt idx="25">
                  <c:v>96</c:v>
                </c:pt>
                <c:pt idx="26">
                  <c:v>106</c:v>
                </c:pt>
                <c:pt idx="27">
                  <c:v>-30</c:v>
                </c:pt>
                <c:pt idx="28">
                  <c:v>-8</c:v>
                </c:pt>
                <c:pt idx="29">
                  <c:v>44</c:v>
                </c:pt>
                <c:pt idx="30">
                  <c:v>92</c:v>
                </c:pt>
                <c:pt idx="31">
                  <c:v>18</c:v>
                </c:pt>
                <c:pt idx="32">
                  <c:v>28</c:v>
                </c:pt>
                <c:pt idx="33">
                  <c:v>26</c:v>
                </c:pt>
                <c:pt idx="34">
                  <c:v>12</c:v>
                </c:pt>
                <c:pt idx="35">
                  <c:v>4</c:v>
                </c:pt>
                <c:pt idx="36">
                  <c:v>-34</c:v>
                </c:pt>
                <c:pt idx="37">
                  <c:v>-86</c:v>
                </c:pt>
                <c:pt idx="38">
                  <c:v>98</c:v>
                </c:pt>
                <c:pt idx="39">
                  <c:v>-34</c:v>
                </c:pt>
                <c:pt idx="40">
                  <c:v>108</c:v>
                </c:pt>
                <c:pt idx="41">
                  <c:v>36</c:v>
                </c:pt>
                <c:pt idx="42">
                  <c:v>28</c:v>
                </c:pt>
                <c:pt idx="43">
                  <c:v>-18</c:v>
                </c:pt>
                <c:pt idx="44">
                  <c:v>90</c:v>
                </c:pt>
                <c:pt idx="45">
                  <c:v>36</c:v>
                </c:pt>
                <c:pt idx="46">
                  <c:v>62</c:v>
                </c:pt>
                <c:pt idx="47">
                  <c:v>28</c:v>
                </c:pt>
                <c:pt idx="48">
                  <c:v>-16</c:v>
                </c:pt>
                <c:pt idx="49">
                  <c:v>78</c:v>
                </c:pt>
                <c:pt idx="50">
                  <c:v>-8</c:v>
                </c:pt>
                <c:pt idx="51">
                  <c:v>102</c:v>
                </c:pt>
                <c:pt idx="52">
                  <c:v>28</c:v>
                </c:pt>
                <c:pt idx="53">
                  <c:v>126</c:v>
                </c:pt>
                <c:pt idx="54">
                  <c:v>48</c:v>
                </c:pt>
                <c:pt idx="55">
                  <c:v>58</c:v>
                </c:pt>
                <c:pt idx="56">
                  <c:v>56</c:v>
                </c:pt>
                <c:pt idx="57">
                  <c:v>110</c:v>
                </c:pt>
                <c:pt idx="58">
                  <c:v>90</c:v>
                </c:pt>
                <c:pt idx="59">
                  <c:v>-88</c:v>
                </c:pt>
                <c:pt idx="60">
                  <c:v>4</c:v>
                </c:pt>
                <c:pt idx="61">
                  <c:v>26</c:v>
                </c:pt>
                <c:pt idx="62">
                  <c:v>12</c:v>
                </c:pt>
                <c:pt idx="63">
                  <c:v>-28</c:v>
                </c:pt>
                <c:pt idx="64">
                  <c:v>20</c:v>
                </c:pt>
                <c:pt idx="65">
                  <c:v>-26</c:v>
                </c:pt>
                <c:pt idx="66">
                  <c:v>18</c:v>
                </c:pt>
                <c:pt idx="67">
                  <c:v>84</c:v>
                </c:pt>
                <c:pt idx="68">
                  <c:v>42</c:v>
                </c:pt>
                <c:pt idx="69">
                  <c:v>24</c:v>
                </c:pt>
                <c:pt idx="70">
                  <c:v>188</c:v>
                </c:pt>
                <c:pt idx="71">
                  <c:v>-10</c:v>
                </c:pt>
                <c:pt idx="72">
                  <c:v>66</c:v>
                </c:pt>
                <c:pt idx="73">
                  <c:v>108</c:v>
                </c:pt>
                <c:pt idx="74">
                  <c:v>56</c:v>
                </c:pt>
                <c:pt idx="75">
                  <c:v>56</c:v>
                </c:pt>
                <c:pt idx="76">
                  <c:v>54</c:v>
                </c:pt>
                <c:pt idx="77">
                  <c:v>132</c:v>
                </c:pt>
                <c:pt idx="78">
                  <c:v>144</c:v>
                </c:pt>
                <c:pt idx="79">
                  <c:v>106</c:v>
                </c:pt>
                <c:pt idx="80">
                  <c:v>76</c:v>
                </c:pt>
                <c:pt idx="81">
                  <c:v>50</c:v>
                </c:pt>
                <c:pt idx="82">
                  <c:v>22</c:v>
                </c:pt>
                <c:pt idx="83">
                  <c:v>28</c:v>
                </c:pt>
                <c:pt idx="84">
                  <c:v>38</c:v>
                </c:pt>
                <c:pt idx="85">
                  <c:v>12</c:v>
                </c:pt>
                <c:pt idx="86">
                  <c:v>92</c:v>
                </c:pt>
                <c:pt idx="87">
                  <c:v>42</c:v>
                </c:pt>
                <c:pt idx="88">
                  <c:v>-42</c:v>
                </c:pt>
                <c:pt idx="89">
                  <c:v>118</c:v>
                </c:pt>
                <c:pt idx="90">
                  <c:v>16</c:v>
                </c:pt>
                <c:pt idx="91">
                  <c:v>34</c:v>
                </c:pt>
                <c:pt idx="92">
                  <c:v>28</c:v>
                </c:pt>
                <c:pt idx="93">
                  <c:v>-62</c:v>
                </c:pt>
                <c:pt idx="94">
                  <c:v>60</c:v>
                </c:pt>
                <c:pt idx="95">
                  <c:v>4</c:v>
                </c:pt>
                <c:pt idx="96">
                  <c:v>106</c:v>
                </c:pt>
                <c:pt idx="97">
                  <c:v>-28</c:v>
                </c:pt>
                <c:pt idx="98">
                  <c:v>194</c:v>
                </c:pt>
                <c:pt idx="99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DEA-40F0-BA3D-2D017306E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072576"/>
        <c:axId val="233648896"/>
      </c:lineChart>
      <c:catAx>
        <c:axId val="22207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3648896"/>
        <c:crosses val="autoZero"/>
        <c:auto val="1"/>
        <c:lblAlgn val="ctr"/>
        <c:lblOffset val="100"/>
        <c:noMultiLvlLbl val="0"/>
      </c:catAx>
      <c:valAx>
        <c:axId val="23364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2207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210</c:v>
                </c:pt>
                <c:pt idx="1">
                  <c:v>284</c:v>
                </c:pt>
                <c:pt idx="2">
                  <c:v>214</c:v>
                </c:pt>
                <c:pt idx="3">
                  <c:v>288</c:v>
                </c:pt>
                <c:pt idx="4">
                  <c:v>300</c:v>
                </c:pt>
                <c:pt idx="5">
                  <c:v>272</c:v>
                </c:pt>
                <c:pt idx="6">
                  <c:v>280</c:v>
                </c:pt>
                <c:pt idx="7">
                  <c:v>326</c:v>
                </c:pt>
                <c:pt idx="8">
                  <c:v>258</c:v>
                </c:pt>
                <c:pt idx="9">
                  <c:v>266</c:v>
                </c:pt>
                <c:pt idx="10">
                  <c:v>238</c:v>
                </c:pt>
                <c:pt idx="11">
                  <c:v>246</c:v>
                </c:pt>
                <c:pt idx="12">
                  <c:v>274</c:v>
                </c:pt>
                <c:pt idx="13">
                  <c:v>246</c:v>
                </c:pt>
                <c:pt idx="14">
                  <c:v>260</c:v>
                </c:pt>
                <c:pt idx="15">
                  <c:v>258</c:v>
                </c:pt>
                <c:pt idx="16">
                  <c:v>280</c:v>
                </c:pt>
                <c:pt idx="17">
                  <c:v>248</c:v>
                </c:pt>
                <c:pt idx="18">
                  <c:v>272</c:v>
                </c:pt>
                <c:pt idx="19">
                  <c:v>254</c:v>
                </c:pt>
                <c:pt idx="20">
                  <c:v>228</c:v>
                </c:pt>
                <c:pt idx="21">
                  <c:v>258</c:v>
                </c:pt>
                <c:pt idx="22">
                  <c:v>254</c:v>
                </c:pt>
                <c:pt idx="23">
                  <c:v>300</c:v>
                </c:pt>
                <c:pt idx="24">
                  <c:v>250</c:v>
                </c:pt>
                <c:pt idx="25">
                  <c:v>230</c:v>
                </c:pt>
                <c:pt idx="26">
                  <c:v>272</c:v>
                </c:pt>
                <c:pt idx="27">
                  <c:v>254</c:v>
                </c:pt>
                <c:pt idx="28">
                  <c:v>226</c:v>
                </c:pt>
                <c:pt idx="29">
                  <c:v>204</c:v>
                </c:pt>
                <c:pt idx="30">
                  <c:v>310</c:v>
                </c:pt>
                <c:pt idx="31">
                  <c:v>266</c:v>
                </c:pt>
                <c:pt idx="32">
                  <c:v>228</c:v>
                </c:pt>
                <c:pt idx="33">
                  <c:v>310</c:v>
                </c:pt>
                <c:pt idx="34">
                  <c:v>268</c:v>
                </c:pt>
                <c:pt idx="35">
                  <c:v>304</c:v>
                </c:pt>
                <c:pt idx="36">
                  <c:v>358</c:v>
                </c:pt>
                <c:pt idx="37">
                  <c:v>274</c:v>
                </c:pt>
                <c:pt idx="38">
                  <c:v>244</c:v>
                </c:pt>
                <c:pt idx="39">
                  <c:v>236</c:v>
                </c:pt>
                <c:pt idx="40">
                  <c:v>206</c:v>
                </c:pt>
                <c:pt idx="41">
                  <c:v>286</c:v>
                </c:pt>
                <c:pt idx="42">
                  <c:v>248</c:v>
                </c:pt>
                <c:pt idx="43">
                  <c:v>324</c:v>
                </c:pt>
                <c:pt idx="44">
                  <c:v>218</c:v>
                </c:pt>
                <c:pt idx="45">
                  <c:v>288</c:v>
                </c:pt>
                <c:pt idx="46">
                  <c:v>252</c:v>
                </c:pt>
                <c:pt idx="47">
                  <c:v>208</c:v>
                </c:pt>
                <c:pt idx="48">
                  <c:v>324</c:v>
                </c:pt>
                <c:pt idx="49">
                  <c:v>258</c:v>
                </c:pt>
                <c:pt idx="50">
                  <c:v>248</c:v>
                </c:pt>
                <c:pt idx="51">
                  <c:v>290</c:v>
                </c:pt>
                <c:pt idx="52">
                  <c:v>300</c:v>
                </c:pt>
                <c:pt idx="53">
                  <c:v>276</c:v>
                </c:pt>
                <c:pt idx="54">
                  <c:v>232</c:v>
                </c:pt>
                <c:pt idx="55">
                  <c:v>244</c:v>
                </c:pt>
                <c:pt idx="56">
                  <c:v>302</c:v>
                </c:pt>
                <c:pt idx="57">
                  <c:v>240</c:v>
                </c:pt>
                <c:pt idx="58">
                  <c:v>216</c:v>
                </c:pt>
                <c:pt idx="59">
                  <c:v>260</c:v>
                </c:pt>
                <c:pt idx="60">
                  <c:v>284</c:v>
                </c:pt>
                <c:pt idx="61">
                  <c:v>250</c:v>
                </c:pt>
                <c:pt idx="62">
                  <c:v>256</c:v>
                </c:pt>
                <c:pt idx="63">
                  <c:v>258</c:v>
                </c:pt>
                <c:pt idx="64">
                  <c:v>302</c:v>
                </c:pt>
                <c:pt idx="65">
                  <c:v>244</c:v>
                </c:pt>
                <c:pt idx="66">
                  <c:v>314</c:v>
                </c:pt>
                <c:pt idx="67">
                  <c:v>290</c:v>
                </c:pt>
                <c:pt idx="68">
                  <c:v>278</c:v>
                </c:pt>
                <c:pt idx="69">
                  <c:v>258</c:v>
                </c:pt>
                <c:pt idx="70">
                  <c:v>256</c:v>
                </c:pt>
                <c:pt idx="71">
                  <c:v>288</c:v>
                </c:pt>
                <c:pt idx="72">
                  <c:v>278</c:v>
                </c:pt>
                <c:pt idx="73">
                  <c:v>264</c:v>
                </c:pt>
                <c:pt idx="74">
                  <c:v>272</c:v>
                </c:pt>
                <c:pt idx="75">
                  <c:v>314</c:v>
                </c:pt>
                <c:pt idx="76">
                  <c:v>246</c:v>
                </c:pt>
                <c:pt idx="77">
                  <c:v>304</c:v>
                </c:pt>
                <c:pt idx="78">
                  <c:v>274</c:v>
                </c:pt>
                <c:pt idx="79">
                  <c:v>254</c:v>
                </c:pt>
                <c:pt idx="80">
                  <c:v>218</c:v>
                </c:pt>
                <c:pt idx="81">
                  <c:v>216</c:v>
                </c:pt>
                <c:pt idx="82">
                  <c:v>288</c:v>
                </c:pt>
                <c:pt idx="83">
                  <c:v>242</c:v>
                </c:pt>
                <c:pt idx="84">
                  <c:v>242</c:v>
                </c:pt>
                <c:pt idx="85">
                  <c:v>246</c:v>
                </c:pt>
                <c:pt idx="86">
                  <c:v>212</c:v>
                </c:pt>
                <c:pt idx="87">
                  <c:v>306</c:v>
                </c:pt>
                <c:pt idx="88">
                  <c:v>244</c:v>
                </c:pt>
                <c:pt idx="89">
                  <c:v>288</c:v>
                </c:pt>
                <c:pt idx="90">
                  <c:v>312</c:v>
                </c:pt>
                <c:pt idx="91">
                  <c:v>254</c:v>
                </c:pt>
                <c:pt idx="92">
                  <c:v>224</c:v>
                </c:pt>
                <c:pt idx="93">
                  <c:v>268</c:v>
                </c:pt>
                <c:pt idx="94">
                  <c:v>264</c:v>
                </c:pt>
                <c:pt idx="95">
                  <c:v>282</c:v>
                </c:pt>
                <c:pt idx="96">
                  <c:v>252</c:v>
                </c:pt>
                <c:pt idx="97">
                  <c:v>262</c:v>
                </c:pt>
                <c:pt idx="98">
                  <c:v>288</c:v>
                </c:pt>
                <c:pt idx="99">
                  <c:v>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EA-40F0-BA3D-2D017306E9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</c:v>
                </c:pt>
              </c:strCache>
            </c:strRef>
          </c:tx>
          <c:spPr>
            <a:ln w="28575" cap="rnd">
              <a:solidFill>
                <a:srgbClr val="D86DC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02B93"/>
              </a:solidFill>
              <a:ln w="9525">
                <a:solidFill>
                  <a:srgbClr val="782170"/>
                </a:solidFill>
                <a:prstDash val="solid"/>
              </a:ln>
              <a:effectLst/>
            </c:spPr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262</c:v>
                </c:pt>
                <c:pt idx="1">
                  <c:v>312</c:v>
                </c:pt>
                <c:pt idx="2">
                  <c:v>268</c:v>
                </c:pt>
                <c:pt idx="3">
                  <c:v>338</c:v>
                </c:pt>
                <c:pt idx="4">
                  <c:v>326</c:v>
                </c:pt>
                <c:pt idx="5">
                  <c:v>250</c:v>
                </c:pt>
                <c:pt idx="6">
                  <c:v>254</c:v>
                </c:pt>
                <c:pt idx="7">
                  <c:v>264</c:v>
                </c:pt>
                <c:pt idx="8">
                  <c:v>312</c:v>
                </c:pt>
                <c:pt idx="9">
                  <c:v>322</c:v>
                </c:pt>
                <c:pt idx="10">
                  <c:v>316</c:v>
                </c:pt>
                <c:pt idx="11">
                  <c:v>284</c:v>
                </c:pt>
                <c:pt idx="12">
                  <c:v>244</c:v>
                </c:pt>
                <c:pt idx="13">
                  <c:v>354</c:v>
                </c:pt>
                <c:pt idx="14">
                  <c:v>282</c:v>
                </c:pt>
                <c:pt idx="15">
                  <c:v>282</c:v>
                </c:pt>
                <c:pt idx="16">
                  <c:v>244</c:v>
                </c:pt>
                <c:pt idx="17">
                  <c:v>312</c:v>
                </c:pt>
                <c:pt idx="18">
                  <c:v>224</c:v>
                </c:pt>
                <c:pt idx="19">
                  <c:v>292</c:v>
                </c:pt>
                <c:pt idx="20">
                  <c:v>270</c:v>
                </c:pt>
                <c:pt idx="21">
                  <c:v>292</c:v>
                </c:pt>
                <c:pt idx="22">
                  <c:v>328</c:v>
                </c:pt>
                <c:pt idx="23">
                  <c:v>324</c:v>
                </c:pt>
                <c:pt idx="24">
                  <c:v>350</c:v>
                </c:pt>
                <c:pt idx="25">
                  <c:v>322</c:v>
                </c:pt>
                <c:pt idx="26">
                  <c:v>216</c:v>
                </c:pt>
                <c:pt idx="27">
                  <c:v>270</c:v>
                </c:pt>
                <c:pt idx="28">
                  <c:v>274</c:v>
                </c:pt>
                <c:pt idx="29">
                  <c:v>296</c:v>
                </c:pt>
                <c:pt idx="30">
                  <c:v>258</c:v>
                </c:pt>
                <c:pt idx="31">
                  <c:v>362</c:v>
                </c:pt>
                <c:pt idx="32">
                  <c:v>256</c:v>
                </c:pt>
                <c:pt idx="33">
                  <c:v>372</c:v>
                </c:pt>
                <c:pt idx="34">
                  <c:v>296</c:v>
                </c:pt>
                <c:pt idx="35">
                  <c:v>282</c:v>
                </c:pt>
                <c:pt idx="36">
                  <c:v>328</c:v>
                </c:pt>
                <c:pt idx="37">
                  <c:v>294</c:v>
                </c:pt>
                <c:pt idx="38">
                  <c:v>268</c:v>
                </c:pt>
                <c:pt idx="39">
                  <c:v>306</c:v>
                </c:pt>
                <c:pt idx="40">
                  <c:v>312</c:v>
                </c:pt>
                <c:pt idx="41">
                  <c:v>236</c:v>
                </c:pt>
                <c:pt idx="42">
                  <c:v>246</c:v>
                </c:pt>
                <c:pt idx="43">
                  <c:v>298</c:v>
                </c:pt>
                <c:pt idx="44">
                  <c:v>282</c:v>
                </c:pt>
                <c:pt idx="45">
                  <c:v>292</c:v>
                </c:pt>
                <c:pt idx="46">
                  <c:v>274</c:v>
                </c:pt>
                <c:pt idx="47">
                  <c:v>300</c:v>
                </c:pt>
                <c:pt idx="48">
                  <c:v>272</c:v>
                </c:pt>
                <c:pt idx="49">
                  <c:v>314</c:v>
                </c:pt>
                <c:pt idx="50">
                  <c:v>258</c:v>
                </c:pt>
                <c:pt idx="51">
                  <c:v>274</c:v>
                </c:pt>
                <c:pt idx="52">
                  <c:v>346</c:v>
                </c:pt>
                <c:pt idx="53">
                  <c:v>290</c:v>
                </c:pt>
                <c:pt idx="54">
                  <c:v>272</c:v>
                </c:pt>
                <c:pt idx="55">
                  <c:v>314</c:v>
                </c:pt>
                <c:pt idx="56">
                  <c:v>328</c:v>
                </c:pt>
                <c:pt idx="57">
                  <c:v>278</c:v>
                </c:pt>
                <c:pt idx="58">
                  <c:v>258</c:v>
                </c:pt>
                <c:pt idx="59">
                  <c:v>302</c:v>
                </c:pt>
                <c:pt idx="60">
                  <c:v>292</c:v>
                </c:pt>
                <c:pt idx="61">
                  <c:v>274</c:v>
                </c:pt>
                <c:pt idx="62">
                  <c:v>202</c:v>
                </c:pt>
                <c:pt idx="63">
                  <c:v>278</c:v>
                </c:pt>
                <c:pt idx="64">
                  <c:v>278</c:v>
                </c:pt>
                <c:pt idx="65">
                  <c:v>216</c:v>
                </c:pt>
                <c:pt idx="66">
                  <c:v>276</c:v>
                </c:pt>
                <c:pt idx="67">
                  <c:v>266</c:v>
                </c:pt>
                <c:pt idx="68">
                  <c:v>264</c:v>
                </c:pt>
                <c:pt idx="69">
                  <c:v>288</c:v>
                </c:pt>
                <c:pt idx="70">
                  <c:v>264</c:v>
                </c:pt>
                <c:pt idx="71">
                  <c:v>292</c:v>
                </c:pt>
                <c:pt idx="72">
                  <c:v>288</c:v>
                </c:pt>
                <c:pt idx="73">
                  <c:v>396</c:v>
                </c:pt>
                <c:pt idx="74">
                  <c:v>342</c:v>
                </c:pt>
                <c:pt idx="75">
                  <c:v>346</c:v>
                </c:pt>
                <c:pt idx="76">
                  <c:v>316</c:v>
                </c:pt>
                <c:pt idx="77">
                  <c:v>344</c:v>
                </c:pt>
                <c:pt idx="78">
                  <c:v>368</c:v>
                </c:pt>
                <c:pt idx="79">
                  <c:v>316</c:v>
                </c:pt>
                <c:pt idx="80">
                  <c:v>336</c:v>
                </c:pt>
                <c:pt idx="81">
                  <c:v>238</c:v>
                </c:pt>
                <c:pt idx="82">
                  <c:v>310</c:v>
                </c:pt>
                <c:pt idx="83">
                  <c:v>282</c:v>
                </c:pt>
                <c:pt idx="84">
                  <c:v>316</c:v>
                </c:pt>
                <c:pt idx="85">
                  <c:v>318</c:v>
                </c:pt>
                <c:pt idx="86">
                  <c:v>324</c:v>
                </c:pt>
                <c:pt idx="87">
                  <c:v>350</c:v>
                </c:pt>
                <c:pt idx="88">
                  <c:v>306</c:v>
                </c:pt>
                <c:pt idx="89">
                  <c:v>310</c:v>
                </c:pt>
                <c:pt idx="90">
                  <c:v>270</c:v>
                </c:pt>
                <c:pt idx="91">
                  <c:v>304</c:v>
                </c:pt>
                <c:pt idx="92">
                  <c:v>242</c:v>
                </c:pt>
                <c:pt idx="93">
                  <c:v>302</c:v>
                </c:pt>
                <c:pt idx="94">
                  <c:v>286</c:v>
                </c:pt>
                <c:pt idx="95">
                  <c:v>376</c:v>
                </c:pt>
                <c:pt idx="96">
                  <c:v>344</c:v>
                </c:pt>
                <c:pt idx="97">
                  <c:v>342</c:v>
                </c:pt>
                <c:pt idx="98">
                  <c:v>266</c:v>
                </c:pt>
                <c:pt idx="99">
                  <c:v>258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EA-40F0-BA3D-2D017306E900}"/>
            </c:ext>
          </c:extLst>
        </c:ser>
        <c:ser>
          <c:idx val="2"/>
          <c:order val="2"/>
          <c:tx>
            <c:v>First - Second</c:v>
          </c:tx>
          <c:spPr>
            <a:ln w="28575" cap="rnd">
              <a:solidFill>
                <a:srgbClr val="F1A98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1A983"/>
              </a:solidFill>
              <a:ln w="9525">
                <a:solidFill>
                  <a:srgbClr val="F1A983"/>
                </a:solidFill>
                <a:prstDash val="solid"/>
              </a:ln>
              <a:effectLst/>
            </c:spPr>
          </c:marker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Sheet1!$D$2:$D$101</c:f>
              <c:numCache>
                <c:formatCode>General</c:formatCode>
                <c:ptCount val="100"/>
                <c:pt idx="0">
                  <c:v>-52</c:v>
                </c:pt>
                <c:pt idx="1">
                  <c:v>-28</c:v>
                </c:pt>
                <c:pt idx="2">
                  <c:v>-54</c:v>
                </c:pt>
                <c:pt idx="3">
                  <c:v>-50</c:v>
                </c:pt>
                <c:pt idx="4">
                  <c:v>-26</c:v>
                </c:pt>
                <c:pt idx="5">
                  <c:v>22</c:v>
                </c:pt>
                <c:pt idx="6">
                  <c:v>26</c:v>
                </c:pt>
                <c:pt idx="7">
                  <c:v>62</c:v>
                </c:pt>
                <c:pt idx="8">
                  <c:v>-54</c:v>
                </c:pt>
                <c:pt idx="9">
                  <c:v>-56</c:v>
                </c:pt>
                <c:pt idx="10">
                  <c:v>-78</c:v>
                </c:pt>
                <c:pt idx="11">
                  <c:v>-38</c:v>
                </c:pt>
                <c:pt idx="12">
                  <c:v>30</c:v>
                </c:pt>
                <c:pt idx="13">
                  <c:v>-108</c:v>
                </c:pt>
                <c:pt idx="14">
                  <c:v>-22</c:v>
                </c:pt>
                <c:pt idx="15">
                  <c:v>-24</c:v>
                </c:pt>
                <c:pt idx="16">
                  <c:v>36</c:v>
                </c:pt>
                <c:pt idx="17">
                  <c:v>-64</c:v>
                </c:pt>
                <c:pt idx="18">
                  <c:v>48</c:v>
                </c:pt>
                <c:pt idx="19">
                  <c:v>-38</c:v>
                </c:pt>
                <c:pt idx="20">
                  <c:v>-42</c:v>
                </c:pt>
                <c:pt idx="21">
                  <c:v>-34</c:v>
                </c:pt>
                <c:pt idx="22">
                  <c:v>-74</c:v>
                </c:pt>
                <c:pt idx="23">
                  <c:v>-24</c:v>
                </c:pt>
                <c:pt idx="24">
                  <c:v>-100</c:v>
                </c:pt>
                <c:pt idx="25">
                  <c:v>-92</c:v>
                </c:pt>
                <c:pt idx="26">
                  <c:v>56</c:v>
                </c:pt>
                <c:pt idx="27">
                  <c:v>-16</c:v>
                </c:pt>
                <c:pt idx="28">
                  <c:v>-48</c:v>
                </c:pt>
                <c:pt idx="29">
                  <c:v>-92</c:v>
                </c:pt>
                <c:pt idx="30">
                  <c:v>52</c:v>
                </c:pt>
                <c:pt idx="31">
                  <c:v>-96</c:v>
                </c:pt>
                <c:pt idx="32">
                  <c:v>-28</c:v>
                </c:pt>
                <c:pt idx="33">
                  <c:v>-62</c:v>
                </c:pt>
                <c:pt idx="34">
                  <c:v>-28</c:v>
                </c:pt>
                <c:pt idx="35">
                  <c:v>22</c:v>
                </c:pt>
                <c:pt idx="36">
                  <c:v>30</c:v>
                </c:pt>
                <c:pt idx="37">
                  <c:v>-20</c:v>
                </c:pt>
                <c:pt idx="38">
                  <c:v>-24</c:v>
                </c:pt>
                <c:pt idx="39">
                  <c:v>-70</c:v>
                </c:pt>
                <c:pt idx="40">
                  <c:v>-106</c:v>
                </c:pt>
                <c:pt idx="41">
                  <c:v>50</c:v>
                </c:pt>
                <c:pt idx="42">
                  <c:v>2</c:v>
                </c:pt>
                <c:pt idx="43">
                  <c:v>26</c:v>
                </c:pt>
                <c:pt idx="44">
                  <c:v>-64</c:v>
                </c:pt>
                <c:pt idx="45">
                  <c:v>-4</c:v>
                </c:pt>
                <c:pt idx="46">
                  <c:v>-22</c:v>
                </c:pt>
                <c:pt idx="47">
                  <c:v>-92</c:v>
                </c:pt>
                <c:pt idx="48">
                  <c:v>52</c:v>
                </c:pt>
                <c:pt idx="49">
                  <c:v>-56</c:v>
                </c:pt>
                <c:pt idx="50">
                  <c:v>-10</c:v>
                </c:pt>
                <c:pt idx="51">
                  <c:v>16</c:v>
                </c:pt>
                <c:pt idx="52">
                  <c:v>-46</c:v>
                </c:pt>
                <c:pt idx="53">
                  <c:v>-14</c:v>
                </c:pt>
                <c:pt idx="54">
                  <c:v>-40</c:v>
                </c:pt>
                <c:pt idx="55">
                  <c:v>-70</c:v>
                </c:pt>
                <c:pt idx="56">
                  <c:v>-26</c:v>
                </c:pt>
                <c:pt idx="57">
                  <c:v>-38</c:v>
                </c:pt>
                <c:pt idx="58">
                  <c:v>-42</c:v>
                </c:pt>
                <c:pt idx="59">
                  <c:v>-42</c:v>
                </c:pt>
                <c:pt idx="60">
                  <c:v>-8</c:v>
                </c:pt>
                <c:pt idx="61">
                  <c:v>-24</c:v>
                </c:pt>
                <c:pt idx="62">
                  <c:v>54</c:v>
                </c:pt>
                <c:pt idx="63">
                  <c:v>-20</c:v>
                </c:pt>
                <c:pt idx="64">
                  <c:v>24</c:v>
                </c:pt>
                <c:pt idx="65">
                  <c:v>28</c:v>
                </c:pt>
                <c:pt idx="66">
                  <c:v>38</c:v>
                </c:pt>
                <c:pt idx="67">
                  <c:v>24</c:v>
                </c:pt>
                <c:pt idx="68">
                  <c:v>14</c:v>
                </c:pt>
                <c:pt idx="69">
                  <c:v>-30</c:v>
                </c:pt>
                <c:pt idx="70">
                  <c:v>-8</c:v>
                </c:pt>
                <c:pt idx="71">
                  <c:v>-4</c:v>
                </c:pt>
                <c:pt idx="72">
                  <c:v>-10</c:v>
                </c:pt>
                <c:pt idx="73">
                  <c:v>-132</c:v>
                </c:pt>
                <c:pt idx="74">
                  <c:v>-70</c:v>
                </c:pt>
                <c:pt idx="75">
                  <c:v>-32</c:v>
                </c:pt>
                <c:pt idx="76">
                  <c:v>-70</c:v>
                </c:pt>
                <c:pt idx="77">
                  <c:v>-40</c:v>
                </c:pt>
                <c:pt idx="78">
                  <c:v>-94</c:v>
                </c:pt>
                <c:pt idx="79">
                  <c:v>-62</c:v>
                </c:pt>
                <c:pt idx="80">
                  <c:v>-118</c:v>
                </c:pt>
                <c:pt idx="81">
                  <c:v>-22</c:v>
                </c:pt>
                <c:pt idx="82">
                  <c:v>-22</c:v>
                </c:pt>
                <c:pt idx="83">
                  <c:v>-40</c:v>
                </c:pt>
                <c:pt idx="84">
                  <c:v>-74</c:v>
                </c:pt>
                <c:pt idx="85">
                  <c:v>-72</c:v>
                </c:pt>
                <c:pt idx="86">
                  <c:v>-112</c:v>
                </c:pt>
                <c:pt idx="87">
                  <c:v>-44</c:v>
                </c:pt>
                <c:pt idx="88">
                  <c:v>-62</c:v>
                </c:pt>
                <c:pt idx="89">
                  <c:v>-22</c:v>
                </c:pt>
                <c:pt idx="90">
                  <c:v>42</c:v>
                </c:pt>
                <c:pt idx="91">
                  <c:v>-50</c:v>
                </c:pt>
                <c:pt idx="92">
                  <c:v>-18</c:v>
                </c:pt>
                <c:pt idx="93">
                  <c:v>-34</c:v>
                </c:pt>
                <c:pt idx="94">
                  <c:v>-22</c:v>
                </c:pt>
                <c:pt idx="95">
                  <c:v>-94</c:v>
                </c:pt>
                <c:pt idx="96">
                  <c:v>-92</c:v>
                </c:pt>
                <c:pt idx="97">
                  <c:v>-80</c:v>
                </c:pt>
                <c:pt idx="98">
                  <c:v>22</c:v>
                </c:pt>
                <c:pt idx="9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DEA-40F0-BA3D-2D017306E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072576"/>
        <c:axId val="233648896"/>
      </c:lineChart>
      <c:catAx>
        <c:axId val="22207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3648896"/>
        <c:crosses val="autoZero"/>
        <c:auto val="1"/>
        <c:lblAlgn val="ctr"/>
        <c:lblOffset val="100"/>
        <c:noMultiLvlLbl val="0"/>
      </c:catAx>
      <c:valAx>
        <c:axId val="23364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2207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2https/battle.nypc.co.kr/k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Yltmdl3xUc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h6l222gjj2c6.cloudfront.net/1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1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media" Target="../media/media5.mp4"/><Relationship Id="rId7" Type="http://schemas.openxmlformats.org/officeDocument/2006/relationships/image" Target="../media/image18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5.mp4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8807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4000">
                <a:ea typeface="맑은 고딕"/>
              </a:rPr>
              <a:t>CSEG516 강화학습개론 프로젝트</a:t>
            </a:r>
            <a:endParaRPr lang="ko-KR" altLang="en-US" sz="4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10079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20201546 강효규   20211573 이재혁</a:t>
            </a:r>
            <a:endParaRPr 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B65E2-AE72-535F-6016-923FB346DA9D}"/>
              </a:ext>
            </a:extLst>
          </p:cNvPr>
          <p:cNvSpPr txBox="1"/>
          <p:nvPr/>
        </p:nvSpPr>
        <p:spPr>
          <a:xfrm>
            <a:off x="3981682" y="6106148"/>
            <a:ext cx="42142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Github : https://github.com/du</a:t>
            </a:r>
            <a:r>
              <a:rPr lang="en-US" dirty="0"/>
              <a:t>ram21</a:t>
            </a:r>
            <a:endParaRPr lang="en-US" altLang="ko-KR" dirty="0"/>
          </a:p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0325CCA-0AC4-47B3-0BAC-CEDC162C5E85}"/>
              </a:ext>
            </a:extLst>
          </p:cNvPr>
          <p:cNvSpPr txBox="1">
            <a:spLocks/>
          </p:cNvSpPr>
          <p:nvPr/>
        </p:nvSpPr>
        <p:spPr>
          <a:xfrm>
            <a:off x="1519518" y="68547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>
                <a:ea typeface="맑은 고딕"/>
              </a:rPr>
              <a:t>PPO를 통한 Connexion 학습</a:t>
            </a:r>
            <a:endParaRPr lang="ko-KR" altLang="en-US" sz="24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F3A42-8C25-B33B-8500-C8AA09767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B6080-100C-B529-B7CB-9E645512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ko-KR" altLang="en-US" sz="2000">
              <a:ea typeface="맑은 고딕"/>
            </a:endParaRPr>
          </a:p>
          <a:p>
            <a:r>
              <a:rPr lang="ko-KR" altLang="en-US" sz="2000">
                <a:ea typeface="맑은 고딕"/>
              </a:rPr>
              <a:t>프로젝트 선정 동기</a:t>
            </a:r>
          </a:p>
          <a:p>
            <a:endParaRPr lang="ko-KR" altLang="en-US" sz="2000">
              <a:ea typeface="맑은 고딕"/>
            </a:endParaRPr>
          </a:p>
          <a:p>
            <a:r>
              <a:rPr lang="ko-KR" altLang="en-US" sz="2000">
                <a:ea typeface="맑은 고딕"/>
              </a:rPr>
              <a:t>프로젝트 주제 및 목표</a:t>
            </a:r>
          </a:p>
          <a:p>
            <a:endParaRPr lang="ko-KR" altLang="en-US" sz="2000">
              <a:ea typeface="맑은 고딕"/>
            </a:endParaRPr>
          </a:p>
          <a:p>
            <a:r>
              <a:rPr lang="ko-KR" altLang="en-US" sz="2000">
                <a:ea typeface="맑은 고딕"/>
              </a:rPr>
              <a:t>실험 환경 및 데이터셋 정의</a:t>
            </a:r>
          </a:p>
          <a:p>
            <a:endParaRPr lang="ko-KR" altLang="en-US" sz="2000">
              <a:ea typeface="맑은 고딕"/>
            </a:endParaRPr>
          </a:p>
          <a:p>
            <a:r>
              <a:rPr lang="ko-KR" altLang="en-US" sz="2000">
                <a:ea typeface="맑은 고딕"/>
              </a:rPr>
              <a:t>실험 결과</a:t>
            </a:r>
          </a:p>
          <a:p>
            <a:endParaRPr lang="ko-KR" altLang="en-US" sz="2000">
              <a:ea typeface="맑은 고딕"/>
            </a:endParaRPr>
          </a:p>
          <a:p>
            <a:r>
              <a:rPr lang="ko-KR" altLang="en-US" sz="2000">
                <a:ea typeface="맑은 고딕"/>
              </a:rPr>
              <a:t>토의 및 결론</a:t>
            </a: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9455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AA758-10C6-6B08-7A81-30CB20CE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6E992-1A4F-91E2-4AF2-44035FDD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2789766"/>
            <a:ext cx="3290887" cy="2452687"/>
          </a:xfrm>
        </p:spPr>
        <p:txBody>
          <a:bodyPr anchor="ctr">
            <a:normAutofit/>
          </a:bodyPr>
          <a:lstStyle/>
          <a:p>
            <a:r>
              <a:rPr lang="ko-KR" altLang="en-US" sz="3600">
                <a:ea typeface="맑은 고딕"/>
              </a:rPr>
              <a:t>프로젝트 </a:t>
            </a:r>
            <a:br>
              <a:rPr lang="ko-KR" altLang="en-US" sz="3600">
                <a:ea typeface="맑은 고딕"/>
              </a:rPr>
            </a:br>
            <a:r>
              <a:rPr lang="ko-KR" altLang="en-US" sz="3600">
                <a:ea typeface="맑은 고딕"/>
              </a:rPr>
              <a:t>선정 동기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E39CB-992B-96A5-2213-B6231E4B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27" b="21218"/>
          <a:stretch>
            <a:fillRect/>
          </a:stretch>
        </p:blipFill>
        <p:spPr>
          <a:xfrm>
            <a:off x="20" y="10"/>
            <a:ext cx="12191980" cy="2895687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568DEF-2A4C-1617-5ADB-C50695317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107267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z="1800">
                <a:latin typeface="Malgun Gothic"/>
                <a:ea typeface="맑은 고딕"/>
              </a:rPr>
              <a:t>2025 NYPC CODE BATTLE(</a:t>
            </a:r>
            <a:r>
              <a:rPr lang="en-US" altLang="ko-KR" sz="1800" dirty="0">
                <a:latin typeface="Malgun Gothic"/>
                <a:ea typeface="맑은 고딕"/>
                <a:hlinkClick r:id="rId3"/>
              </a:rPr>
              <a:t>https://battle.nypc.co.kr/ko</a:t>
            </a:r>
            <a:r>
              <a:rPr lang="en-US" altLang="ko-KR" sz="1800">
                <a:latin typeface="Malgun Gothic"/>
                <a:ea typeface="맑은 고딕"/>
              </a:rPr>
              <a:t>) </a:t>
            </a:r>
            <a:r>
              <a:rPr lang="ko-KR" altLang="en-US" sz="1800">
                <a:latin typeface="Malgun Gothic"/>
                <a:ea typeface="맑은 고딕"/>
              </a:rPr>
              <a:t>본선에</a:t>
            </a:r>
            <a:r>
              <a:rPr lang="en-US" altLang="ko-KR" sz="1800" dirty="0">
                <a:latin typeface="Malgun Gothic"/>
                <a:ea typeface="맑은 고딕"/>
              </a:rPr>
              <a:t> </a:t>
            </a:r>
            <a:r>
              <a:rPr lang="ko-KR" altLang="en-US" sz="1800">
                <a:latin typeface="Malgun Gothic"/>
                <a:ea typeface="맑은 고딕"/>
              </a:rPr>
              <a:t>진출</a:t>
            </a:r>
            <a:r>
              <a:rPr lang="en-US" altLang="ko-KR" sz="1800">
                <a:latin typeface="Malgun Gothic"/>
                <a:ea typeface="맑은 고딕"/>
              </a:rPr>
              <a:t>(</a:t>
            </a:r>
            <a:r>
              <a:rPr lang="ko-KR" altLang="en-US" sz="1800">
                <a:latin typeface="Malgun Gothic"/>
                <a:ea typeface="맑은 고딕"/>
              </a:rPr>
              <a:t>상위</a:t>
            </a:r>
            <a:r>
              <a:rPr lang="en-US" altLang="ko-KR" sz="1800">
                <a:latin typeface="Malgun Gothic"/>
                <a:ea typeface="맑은 고딕"/>
              </a:rPr>
              <a:t> 3.5%)</a:t>
            </a:r>
            <a:r>
              <a:rPr lang="ko-KR" altLang="en-US" sz="1800">
                <a:latin typeface="Malgun Gothic"/>
                <a:ea typeface="맑은 고딕"/>
              </a:rPr>
              <a:t>하여</a:t>
            </a:r>
            <a:r>
              <a:rPr lang="en-US" altLang="ko-KR" sz="1800" dirty="0">
                <a:latin typeface="Malgun Gothic"/>
                <a:ea typeface="맑은 고딕"/>
              </a:rPr>
              <a:t> </a:t>
            </a:r>
            <a:r>
              <a:rPr lang="en-US" altLang="ko-KR" sz="1800" err="1">
                <a:latin typeface="Malgun Gothic"/>
                <a:ea typeface="맑은 고딕"/>
              </a:rPr>
              <a:t>Connexion</a:t>
            </a:r>
            <a:r>
              <a:rPr lang="ko-KR" altLang="en-US" sz="1800">
                <a:latin typeface="Malgun Gothic"/>
                <a:ea typeface="맑은 고딕"/>
              </a:rPr>
              <a:t>이라는</a:t>
            </a:r>
            <a:r>
              <a:rPr lang="en-US" altLang="ko-KR" sz="1800" dirty="0">
                <a:latin typeface="Malgun Gothic"/>
                <a:ea typeface="맑은 고딕"/>
              </a:rPr>
              <a:t> </a:t>
            </a:r>
            <a:r>
              <a:rPr lang="ko-KR" altLang="en-US" sz="1800">
                <a:latin typeface="Malgun Gothic"/>
                <a:ea typeface="맑은 고딕"/>
              </a:rPr>
              <a:t>문제를</a:t>
            </a:r>
            <a:r>
              <a:rPr lang="en-US" altLang="ko-KR" sz="1800" dirty="0">
                <a:latin typeface="Malgun Gothic"/>
                <a:ea typeface="맑은 고딕"/>
              </a:rPr>
              <a:t> </a:t>
            </a:r>
            <a:r>
              <a:rPr lang="en-US" altLang="ko-KR" sz="1800" err="1">
                <a:latin typeface="Malgun Gothic"/>
                <a:ea typeface="맑은 고딕"/>
              </a:rPr>
              <a:t>만났다</a:t>
            </a:r>
            <a:r>
              <a:rPr lang="en-US" altLang="ko-KR" sz="1800">
                <a:latin typeface="Malgun Gothic"/>
                <a:ea typeface="맑은 고딕"/>
              </a:rPr>
              <a:t>.</a:t>
            </a:r>
          </a:p>
          <a:p>
            <a:r>
              <a:rPr lang="ko-KR" sz="1800">
                <a:latin typeface="Malgun Gothic"/>
                <a:ea typeface="Malgun Gothic"/>
              </a:rPr>
              <a:t>해당 대회에서는 </a:t>
            </a:r>
            <a:r>
              <a:rPr lang="ko-KR" altLang="en-US" sz="1800">
                <a:latin typeface="Malgun Gothic"/>
                <a:ea typeface="Malgun Gothic"/>
              </a:rPr>
              <a:t>휴리스틱 알고리즘을 이용하여 AI 봇을 만들어 다른 팀과 경쟁했다.</a:t>
            </a:r>
          </a:p>
          <a:p>
            <a:r>
              <a:rPr lang="ko-KR" altLang="en-US" sz="1800">
                <a:latin typeface="Malgun Gothic"/>
                <a:ea typeface="Malgun Gothic"/>
              </a:rPr>
              <a:t>아쉽게 수상을 하지 못해 아쉬움이 남아 "</a:t>
            </a:r>
            <a:r>
              <a:rPr lang="ko-KR" sz="1800">
                <a:latin typeface="Malgun Gothic"/>
                <a:ea typeface="Malgun Gothic"/>
              </a:rPr>
              <a:t>강화학습을 이용해 </a:t>
            </a:r>
            <a:r>
              <a:rPr lang="ko-KR" altLang="en-US" sz="1800">
                <a:latin typeface="Malgun Gothic"/>
                <a:ea typeface="Malgun Gothic"/>
              </a:rPr>
              <a:t>AI 봇을 개선할 수 </a:t>
            </a:r>
            <a:r>
              <a:rPr lang="ko-KR" altLang="en-US" sz="1800" err="1">
                <a:latin typeface="Malgun Gothic"/>
                <a:ea typeface="Malgun Gothic"/>
              </a:rPr>
              <a:t>없을까?"라는</a:t>
            </a:r>
            <a:r>
              <a:rPr lang="ko-KR" altLang="en-US" sz="1800">
                <a:latin typeface="Malgun Gothic"/>
                <a:ea typeface="Malgun Gothic"/>
              </a:rPr>
              <a:t> 생각의 연장선으로 </a:t>
            </a:r>
            <a:r>
              <a:rPr lang="ko-KR" altLang="en-US" sz="1800" err="1">
                <a:latin typeface="Malgun Gothic"/>
                <a:ea typeface="Malgun Gothic"/>
              </a:rPr>
              <a:t>Connexion을</a:t>
            </a:r>
            <a:r>
              <a:rPr lang="ko-KR" altLang="en-US" sz="1800">
                <a:latin typeface="Malgun Gothic"/>
                <a:ea typeface="Malgun Gothic"/>
              </a:rPr>
              <a:t> 주제로 선정하였다.</a:t>
            </a:r>
          </a:p>
        </p:txBody>
      </p:sp>
    </p:spTree>
    <p:extLst>
      <p:ext uri="{BB962C8B-B14F-4D97-AF65-F5344CB8AC3E}">
        <p14:creationId xmlns:p14="http://schemas.microsoft.com/office/powerpoint/2010/main" val="81289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C793E-5309-419A-8BD3-1BDCCBEA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7BE24-2E77-CF9B-F753-14282CD0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Malgun Gothic"/>
                <a:ea typeface="Malgun Gothic"/>
              </a:rPr>
              <a:t>프로젝트 주제 </a:t>
            </a:r>
            <a:r>
              <a:rPr lang="en-US" altLang="ko-KR">
                <a:ea typeface="+mj-lt"/>
              </a:rPr>
              <a:t>-</a:t>
            </a:r>
            <a:r>
              <a:rPr lang="ko-KR" altLang="en-US">
                <a:latin typeface="Malgun Gothic"/>
                <a:ea typeface="Malgun Gothic"/>
              </a:rPr>
              <a:t> </a:t>
            </a:r>
            <a:r>
              <a:rPr lang="en-US" altLang="ko-KR" err="1">
                <a:ea typeface="+mj-lt"/>
              </a:rPr>
              <a:t>Connexion</a:t>
            </a:r>
            <a:endParaRPr lang="ko-KR" altLang="en-US" err="1">
              <a:latin typeface="Malgun Gothic"/>
              <a:ea typeface="Malgun Gothic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0633-FAE2-4179-7CD7-12ACB95D7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421BB5-4E7F-7960-D1EF-E99CA025A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54" y="1461813"/>
            <a:ext cx="9906000" cy="489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90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329B-3F03-32D6-74BA-5EAAB283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302BF-00AE-7406-4512-FD087CF4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Malgun Gothic"/>
                <a:ea typeface="Malgun Gothic"/>
              </a:rPr>
              <a:t>프로젝트 주제 </a:t>
            </a:r>
            <a:r>
              <a:rPr lang="en-US" altLang="ko-KR">
                <a:latin typeface="Malgun Gothic"/>
                <a:ea typeface="Malgun Gothic"/>
              </a:rPr>
              <a:t>-</a:t>
            </a:r>
            <a:r>
              <a:rPr lang="ko-KR" altLang="en-US">
                <a:latin typeface="Malgun Gothic"/>
                <a:ea typeface="Malgun Gothic"/>
              </a:rPr>
              <a:t> </a:t>
            </a:r>
            <a:r>
              <a:rPr lang="en-US" altLang="ko-KR" err="1">
                <a:latin typeface="Malgun Gothic"/>
                <a:ea typeface="Malgun Gothic"/>
              </a:rPr>
              <a:t>Connexion</a:t>
            </a:r>
            <a:endParaRPr lang="ko-KR"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9BF89F-7AD5-BE9E-B505-FD7C1A67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800">
                <a:ea typeface="맑은 고딕"/>
              </a:rPr>
              <a:t>두 명의 플레이어가 </a:t>
            </a:r>
            <a:r>
              <a:rPr lang="ko-KR" altLang="en-US" sz="1800" err="1">
                <a:ea typeface="맑은 고딕"/>
              </a:rPr>
              <a:t>번갈아가며</a:t>
            </a:r>
            <a:r>
              <a:rPr lang="ko-KR" altLang="en-US" sz="1800">
                <a:ea typeface="맑은 고딕"/>
              </a:rPr>
              <a:t> 게임판의 빈 곳에 타일을 놓으며 게임을 진행합니다.</a:t>
            </a:r>
            <a:endParaRPr lang="ko-KR">
              <a:ea typeface="맑은 고딕"/>
            </a:endParaRPr>
          </a:p>
          <a:p>
            <a:r>
              <a:rPr lang="ko-KR" altLang="en-US" sz="1800">
                <a:ea typeface="맑은 고딕"/>
              </a:rPr>
              <a:t>게임 판의 타일은 서로 다른 색과 문양이 4종류씩 존재하여 총 16가지 종류가 존재합니다.</a:t>
            </a:r>
          </a:p>
          <a:p>
            <a:r>
              <a:rPr lang="ko-KR" altLang="en-US" sz="1800">
                <a:ea typeface="맑은 고딕"/>
              </a:rPr>
              <a:t>타일을 놓으며 연결된 같은 문양 타일이 클수록 선공이 점수를 얻고,  연결된 같은 색의 타일이 커질수록 </a:t>
            </a:r>
            <a:r>
              <a:rPr lang="ko-KR" altLang="en-US" sz="1800" err="1">
                <a:ea typeface="맑은 고딕"/>
              </a:rPr>
              <a:t>후공이</a:t>
            </a:r>
            <a:r>
              <a:rPr lang="ko-KR" altLang="en-US" sz="1800">
                <a:ea typeface="맑은 고딕"/>
              </a:rPr>
              <a:t> 점수를 얻습니다. </a:t>
            </a:r>
          </a:p>
          <a:p>
            <a:r>
              <a:rPr lang="ko-KR" altLang="en-US" sz="1800">
                <a:ea typeface="맑은 고딕"/>
              </a:rPr>
              <a:t>각 타일종류마다 2개씩 각 플레이어는 32개의</a:t>
            </a:r>
            <a:r>
              <a:rPr lang="ko-KR" altLang="en-US" sz="1600">
                <a:ea typeface="맑은 고딕"/>
              </a:rPr>
              <a:t> 타일을 가지고 시작합니다.</a:t>
            </a:r>
          </a:p>
          <a:p>
            <a:endParaRPr lang="ko-KR" altLang="en-US">
              <a:ea typeface="맑은 고딕"/>
            </a:endParaRPr>
          </a:p>
          <a:p>
            <a:pPr marL="0" indent="0">
              <a:buNone/>
            </a:pPr>
            <a:endParaRPr lang="ko-KR" altLang="en-US">
              <a:ea typeface="맑은 고딕"/>
            </a:endParaRPr>
          </a:p>
        </p:txBody>
      </p:sp>
      <p:pic>
        <p:nvPicPr>
          <p:cNvPr id="4" name="그림 3" descr="창작 예술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76DE4F-48C6-5ECA-6EFE-09CE181B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207" y="3259156"/>
            <a:ext cx="3353371" cy="3160685"/>
          </a:xfrm>
          <a:prstGeom prst="rect">
            <a:avLst/>
          </a:prstGeom>
        </p:spPr>
      </p:pic>
      <p:pic>
        <p:nvPicPr>
          <p:cNvPr id="5" name="그림 4" descr="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4E028E-AA24-1296-3ED7-96568DB98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809" y="5334390"/>
            <a:ext cx="3867150" cy="495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7ED84AC-682E-2AA2-3D94-6214C7AB3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25" y="5954244"/>
            <a:ext cx="38004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60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F191-F045-DD12-8BCB-53F1594B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83F41-4B3E-B26A-71E5-B4B217A9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프로젝트 주제 - </a:t>
            </a:r>
            <a:r>
              <a:rPr lang="ko-KR" altLang="en-US" err="1">
                <a:ea typeface="맑은 고딕"/>
              </a:rPr>
              <a:t>Connexion</a:t>
            </a:r>
            <a:endParaRPr lang="ko-KR" altLang="en-US"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D975F-368F-D6AE-2290-2B8E2EE27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569B61C-ECAA-FCDB-9340-9BAC40268C6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>
                <a:ea typeface="맑은 고딕"/>
              </a:rPr>
              <a:t>점수가 계산되는 방식은 다음과 같습니다.</a:t>
            </a:r>
          </a:p>
          <a:p>
            <a:r>
              <a:rPr lang="ko-KR" sz="1800">
                <a:ea typeface="+mn-lt"/>
                <a:cs typeface="+mn-lt"/>
              </a:rPr>
              <a:t>인접한 두 칸에 놓인 타일이 같은 색이면 두 타일은 </a:t>
            </a:r>
            <a:r>
              <a:rPr lang="ko-KR" sz="1800" b="1">
                <a:ea typeface="+mn-lt"/>
                <a:cs typeface="+mn-lt"/>
              </a:rPr>
              <a:t>색으로 연결</a:t>
            </a:r>
            <a:r>
              <a:rPr lang="ko-KR" sz="1800">
                <a:ea typeface="+mn-lt"/>
                <a:cs typeface="+mn-lt"/>
              </a:rPr>
              <a:t>, 같은 문양이면 </a:t>
            </a:r>
            <a:r>
              <a:rPr lang="ko-KR" sz="1800" b="1">
                <a:ea typeface="+mn-lt"/>
                <a:cs typeface="+mn-lt"/>
              </a:rPr>
              <a:t>문양으로 연결</a:t>
            </a:r>
            <a:r>
              <a:rPr lang="ko-KR" sz="1800">
                <a:ea typeface="+mn-lt"/>
                <a:cs typeface="+mn-lt"/>
              </a:rPr>
              <a:t>되어 있습니다.</a:t>
            </a:r>
            <a:endParaRPr lang="ko-KR" altLang="en-US" sz="1800">
              <a:ea typeface="맑은 고딕"/>
            </a:endParaRPr>
          </a:p>
          <a:p>
            <a:r>
              <a:rPr lang="ko-KR" sz="1800">
                <a:ea typeface="+mn-lt"/>
                <a:cs typeface="+mn-lt"/>
              </a:rPr>
              <a:t>다음 두 가지 방법 중 편한 방법을 택해서 점수 계산을 진행합니다. 두 방법으로 계산된 점수는 같습니다. 두 사람 중 점수가 높은 사람이 승리하며, 점수가 같으면 무승부입니다.</a:t>
            </a:r>
            <a:endParaRPr lang="ko-KR"/>
          </a:p>
          <a:p>
            <a:endParaRPr lang="ko-KR" altLang="en-US" sz="1800">
              <a:ea typeface="+mn-lt"/>
              <a:cs typeface="+mn-lt"/>
            </a:endParaRPr>
          </a:p>
          <a:p>
            <a:r>
              <a:rPr lang="ko-KR" altLang="en-US" sz="1800">
                <a:ea typeface="+mn-lt"/>
                <a:cs typeface="+mn-lt"/>
              </a:rPr>
              <a:t>선공과 </a:t>
            </a:r>
            <a:r>
              <a:rPr lang="ko-KR" altLang="en-US" sz="1800" err="1">
                <a:ea typeface="+mn-lt"/>
                <a:cs typeface="+mn-lt"/>
              </a:rPr>
              <a:t>후공은</a:t>
            </a:r>
            <a:r>
              <a:rPr lang="ko-KR" altLang="en-US" sz="1800">
                <a:ea typeface="+mn-lt"/>
                <a:cs typeface="+mn-lt"/>
              </a:rPr>
              <a:t> 각자 다른 방법으로 타일들을 그룹으로 나눕니다</a:t>
            </a:r>
            <a:r>
              <a:rPr lang="en-US" altLang="ko-KR" sz="1800">
                <a:ea typeface="+mn-lt"/>
                <a:cs typeface="+mn-lt"/>
              </a:rPr>
              <a:t>.</a:t>
            </a:r>
            <a:endParaRPr lang="ko-KR" alt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>
                <a:ea typeface="+mn-lt"/>
                <a:cs typeface="+mn-lt"/>
              </a:rPr>
              <a:t>선공</a:t>
            </a:r>
            <a:r>
              <a:rPr lang="en-US" altLang="ko-KR" sz="1600">
                <a:ea typeface="+mn-lt"/>
                <a:cs typeface="+mn-lt"/>
              </a:rPr>
              <a:t>:</a:t>
            </a:r>
            <a:r>
              <a:rPr lang="ko-KR" altLang="en-US" sz="1600">
                <a:ea typeface="+mn-lt"/>
                <a:cs typeface="+mn-lt"/>
              </a:rPr>
              <a:t> 같은 문양으로 연결을 따라 도달할 수 있는 타일 전체를 한 그룹으로 묶습니다</a:t>
            </a:r>
            <a:r>
              <a:rPr lang="en-US" altLang="ko-KR" sz="1600">
                <a:ea typeface="+mn-lt"/>
                <a:cs typeface="+mn-lt"/>
              </a:rPr>
              <a:t>.</a:t>
            </a:r>
            <a:endParaRPr lang="ko-KR" altLang="en-US" sz="16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err="1">
                <a:ea typeface="+mn-lt"/>
                <a:cs typeface="+mn-lt"/>
              </a:rPr>
              <a:t>후공</a:t>
            </a:r>
            <a:r>
              <a:rPr lang="en-US" altLang="ko-KR" sz="1600">
                <a:ea typeface="+mn-lt"/>
                <a:cs typeface="+mn-lt"/>
              </a:rPr>
              <a:t>:</a:t>
            </a:r>
            <a:r>
              <a:rPr lang="ko-KR" altLang="en-US" sz="1600">
                <a:ea typeface="+mn-lt"/>
                <a:cs typeface="+mn-lt"/>
              </a:rPr>
              <a:t> 같은 색으로 연결을 따라 도달할 수 있는 타일 전체를 한 그룹으로 묶습니다</a:t>
            </a:r>
            <a:r>
              <a:rPr lang="en-US" altLang="ko-KR" sz="1600">
                <a:ea typeface="+mn-lt"/>
                <a:cs typeface="+mn-lt"/>
              </a:rPr>
              <a:t>.</a:t>
            </a:r>
            <a:endParaRPr lang="ko-KR" altLang="en-US" sz="1600">
              <a:ea typeface="맑은 고딕"/>
            </a:endParaRPr>
          </a:p>
          <a:p>
            <a:endParaRPr lang="ko-KR" altLang="en-US" sz="1800">
              <a:ea typeface="+mn-lt"/>
              <a:cs typeface="+mn-lt"/>
            </a:endParaRPr>
          </a:p>
          <a:p>
            <a:r>
              <a:rPr lang="ko-KR" altLang="en-US" sz="1800">
                <a:ea typeface="+mn-lt"/>
                <a:cs typeface="+mn-lt"/>
              </a:rPr>
              <a:t>각 그룹의 점수는 </a:t>
            </a:r>
            <a:r>
              <a:rPr lang="en-US" altLang="ko-KR" sz="1800">
                <a:ea typeface="+mn-lt"/>
                <a:cs typeface="+mn-lt"/>
              </a:rPr>
              <a:t>(</a:t>
            </a:r>
            <a:r>
              <a:rPr lang="ko-KR" altLang="en-US" sz="1800">
                <a:ea typeface="+mn-lt"/>
                <a:cs typeface="+mn-lt"/>
              </a:rPr>
              <a:t>그룹에 속한 타일 개수)의 제곱입니다</a:t>
            </a:r>
            <a:r>
              <a:rPr lang="en-US" altLang="ko-KR" sz="1800">
                <a:ea typeface="+mn-lt"/>
                <a:cs typeface="+mn-lt"/>
              </a:rPr>
              <a:t>.</a:t>
            </a:r>
            <a:r>
              <a:rPr lang="ko-KR" altLang="en-US" sz="1800">
                <a:ea typeface="+mn-lt"/>
                <a:cs typeface="+mn-lt"/>
              </a:rPr>
              <a:t> 모든 그룹의 점수 합이 각 플레이어의 점수가 됩니다.</a:t>
            </a:r>
            <a:endParaRPr lang="en-US" altLang="ko-KR" sz="1800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pPr marL="0" indent="0">
              <a:buNone/>
            </a:pPr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8130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8BF8-36FD-D601-8512-CB4F1B40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44E69-D87D-EE50-4D67-393B6F6D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프로젝트 주제 - </a:t>
            </a:r>
            <a:r>
              <a:rPr lang="ko-KR" altLang="en-US" err="1">
                <a:ea typeface="맑은 고딕"/>
              </a:rPr>
              <a:t>Connexion</a:t>
            </a:r>
            <a:endParaRPr lang="ko-KR" altLang="en-US"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C6657-D7A5-6E5B-4160-EAB540869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pic>
        <p:nvPicPr>
          <p:cNvPr id="4" name="그림 3" descr="도표, 클립아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998223-9D5C-E7AC-9F01-3C3E22D7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24" y="2365200"/>
            <a:ext cx="10040400" cy="4015235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FEFB87-DB28-25BE-13FE-D1F9944A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678" y="1658215"/>
            <a:ext cx="3067916" cy="35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08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D7E6-391B-2A2B-D194-4A15DF40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55060-25E0-F8E2-6EE7-73C40C34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err="1">
                <a:ea typeface="+mj-lt"/>
              </a:rPr>
              <a:t>프로젝트</a:t>
            </a:r>
            <a:r>
              <a:rPr lang="en-US" altLang="ko-KR">
                <a:ea typeface="+mj-lt"/>
              </a:rPr>
              <a:t> </a:t>
            </a:r>
            <a:r>
              <a:rPr lang="en-US" altLang="ko-KR" err="1">
                <a:ea typeface="+mj-lt"/>
              </a:rPr>
              <a:t>주제</a:t>
            </a:r>
            <a:r>
              <a:rPr lang="en-US" altLang="ko-KR">
                <a:ea typeface="+mj-lt"/>
              </a:rPr>
              <a:t> - </a:t>
            </a:r>
            <a:r>
              <a:rPr lang="en-US" altLang="ko-KR" err="1">
                <a:ea typeface="+mj-lt"/>
              </a:rPr>
              <a:t>Connexion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47BC03-6EB0-9273-7527-AEF7C6892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pic>
        <p:nvPicPr>
          <p:cNvPr id="4" name="온라인 미디어 3" title="[NYPC 코드배틀] CONNEXION 문제 설명 영상">
            <a:hlinkClick r:id="" action="ppaction://noaction"/>
            <a:extLst>
              <a:ext uri="{FF2B5EF4-FFF2-40B4-BE49-F238E27FC236}">
                <a16:creationId xmlns:a16="http://schemas.microsoft.com/office/drawing/2014/main" id="{DBA2657E-5ED1-537E-C53D-164D1372164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24194" y="2502876"/>
            <a:ext cx="6115663" cy="3460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1D60B8-AF2E-B8E1-D319-D1A8A2D03A9B}"/>
              </a:ext>
            </a:extLst>
          </p:cNvPr>
          <p:cNvSpPr txBox="1"/>
          <p:nvPr/>
        </p:nvSpPr>
        <p:spPr>
          <a:xfrm>
            <a:off x="1018038" y="1921709"/>
            <a:ext cx="66920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자세한 정의는 아래의 공식 설명 영상으로 보충하겠습니다.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39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4FEF-C96C-6856-9E22-13E31F8C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35984-56FA-B543-C1B8-B54980EF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err="1">
                <a:ea typeface="+mj-lt"/>
              </a:rPr>
              <a:t>프로젝트</a:t>
            </a:r>
            <a:r>
              <a:rPr lang="en-US" altLang="ko-KR">
                <a:ea typeface="+mj-lt"/>
              </a:rPr>
              <a:t> </a:t>
            </a:r>
            <a:r>
              <a:rPr lang="en-US" altLang="ko-KR" err="1">
                <a:ea typeface="+mj-lt"/>
              </a:rPr>
              <a:t>주제</a:t>
            </a:r>
            <a:r>
              <a:rPr lang="en-US" altLang="ko-KR">
                <a:ea typeface="+mj-lt"/>
              </a:rPr>
              <a:t> - Connexion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9C266-724E-C1E7-C095-8F1115DC1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22468-5F41-7EB2-D28B-A9D889FB7B46}"/>
              </a:ext>
            </a:extLst>
          </p:cNvPr>
          <p:cNvSpPr txBox="1"/>
          <p:nvPr/>
        </p:nvSpPr>
        <p:spPr>
          <a:xfrm>
            <a:off x="1794416" y="1892955"/>
            <a:ext cx="886736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  <a:hlinkClick r:id="rId2"/>
              </a:rPr>
              <a:t>공식사이트</a:t>
            </a:r>
            <a:r>
              <a:rPr lang="ko-KR" altLang="en-US">
                <a:ea typeface="맑은 고딕"/>
              </a:rPr>
              <a:t>에서 샘플 </a:t>
            </a:r>
            <a:r>
              <a:rPr lang="ko-KR" altLang="en-US" err="1">
                <a:ea typeface="맑은 고딕"/>
              </a:rPr>
              <a:t>AI와</a:t>
            </a:r>
            <a:r>
              <a:rPr lang="ko-KR" altLang="en-US">
                <a:ea typeface="맑은 고딕"/>
              </a:rPr>
              <a:t> 대결하거나  직접 플레이 해 볼 수 있습니다.</a:t>
            </a:r>
          </a:p>
          <a:p>
            <a:endParaRPr lang="ko-KR" altLang="en-US">
              <a:ea typeface="+mn-lt"/>
              <a:cs typeface="+mn-lt"/>
            </a:endParaRPr>
          </a:p>
          <a:p>
            <a:endParaRPr lang="ko-KR" altLang="en-US" sz="3200">
              <a:ea typeface="+mn-lt"/>
              <a:cs typeface="+mn-lt"/>
            </a:endParaRPr>
          </a:p>
          <a:p>
            <a:endParaRPr lang="ko-KR" altLang="en-US" sz="3200">
              <a:ea typeface="맑은 고딕"/>
            </a:endParaRPr>
          </a:p>
          <a:p>
            <a:endParaRPr lang="ko-KR" altLang="en-US" sz="3200">
              <a:ea typeface="맑은 고딕"/>
            </a:endParaRPr>
          </a:p>
        </p:txBody>
      </p:sp>
      <p:pic>
        <p:nvPicPr>
          <p:cNvPr id="5" name="그림 4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598D70-BB16-DCFD-5CB0-600865EB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75" y="2331589"/>
            <a:ext cx="6586788" cy="425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0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6C0E-5AD5-3352-40A8-E767EAF6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E4980-4ECE-F03C-8F04-C57FB7FA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프로젝트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6C2F3-DDA2-4AC5-A203-15F5E9A2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err="1">
                <a:ea typeface="맑은 고딕"/>
              </a:rPr>
              <a:t>Connexion에</a:t>
            </a:r>
            <a:r>
              <a:rPr lang="ko-KR" altLang="en-US" sz="2000">
                <a:ea typeface="맑은 고딕"/>
              </a:rPr>
              <a:t> 대한 환경을 정의하고 PPO 알고리즘을 통해 </a:t>
            </a:r>
            <a:r>
              <a:rPr lang="ko-KR" altLang="en-US" sz="2000" err="1">
                <a:ea typeface="맑은 고딕"/>
              </a:rPr>
              <a:t>Connexion을</a:t>
            </a:r>
            <a:r>
              <a:rPr lang="ko-KR" altLang="en-US" sz="2000">
                <a:ea typeface="맑은 고딕"/>
              </a:rPr>
              <a:t> 학습한다.</a:t>
            </a:r>
            <a:endParaRPr lang="ko-KR"/>
          </a:p>
          <a:p>
            <a:pPr>
              <a:lnSpc>
                <a:spcPct val="150000"/>
              </a:lnSpc>
            </a:pPr>
            <a:r>
              <a:rPr lang="ko-KR" altLang="en-US" sz="2000">
                <a:ea typeface="맑은 고딕"/>
              </a:rPr>
              <a:t>상대 </a:t>
            </a:r>
            <a:r>
              <a:rPr lang="ko-KR" altLang="en-US" sz="2000" err="1">
                <a:ea typeface="맑은 고딕"/>
              </a:rPr>
              <a:t>Agent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AI를</a:t>
            </a:r>
            <a:r>
              <a:rPr lang="ko-KR" altLang="en-US" sz="2000">
                <a:ea typeface="맑은 고딕"/>
              </a:rPr>
              <a:t> 난이도에 비례하여 세 종류로 나누고 강화학습의 성능을 측정한다.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>
                <a:ea typeface="맑은 고딕"/>
              </a:rPr>
              <a:t>무작위한 위치에 무작위한 패를 선택하는 AI (</a:t>
            </a:r>
            <a:r>
              <a:rPr lang="ko-KR" altLang="en-US" sz="1600" err="1">
                <a:ea typeface="맑은 고딕"/>
              </a:rPr>
              <a:t>Random</a:t>
            </a:r>
            <a:r>
              <a:rPr lang="ko-KR" altLang="en-US" sz="1600" dirty="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Bot</a:t>
            </a:r>
            <a:r>
              <a:rPr lang="ko-KR" altLang="en-US" sz="1600">
                <a:ea typeface="맑은 고딕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>
                <a:ea typeface="맑은 고딕"/>
              </a:rPr>
              <a:t>현재 가능한 수 중 얻을 수 있는 점수가 가장 큰 수를 선택하는 AI (</a:t>
            </a:r>
            <a:r>
              <a:rPr lang="ko-KR" altLang="en-US" sz="1600" err="1">
                <a:ea typeface="맑은 고딕"/>
              </a:rPr>
              <a:t>Sample</a:t>
            </a:r>
            <a:r>
              <a:rPr lang="ko-KR" altLang="en-US" sz="1600" dirty="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Bot</a:t>
            </a:r>
            <a:r>
              <a:rPr lang="ko-KR" altLang="en-US" sz="1600">
                <a:ea typeface="맑은 고딕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>
                <a:ea typeface="맑은 고딕"/>
              </a:rPr>
              <a:t>대회 본선에서 구현한 휴리스틱 알고리즘 AI (</a:t>
            </a:r>
            <a:r>
              <a:rPr lang="ko-KR" altLang="en-US" sz="1600" err="1">
                <a:ea typeface="맑은 고딕"/>
              </a:rPr>
              <a:t>Heuristic</a:t>
            </a:r>
            <a:r>
              <a:rPr lang="ko-KR" altLang="en-US" sz="1600" dirty="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Bot</a:t>
            </a:r>
            <a:r>
              <a:rPr lang="ko-KR" altLang="en-US" sz="1600">
                <a:ea typeface="맑은 고딕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endParaRPr lang="ko-KR" altLang="en-US" sz="1600">
              <a:ea typeface="맑은 고딕"/>
            </a:endParaRPr>
          </a:p>
          <a:p>
            <a:pPr marL="342900" indent="-342900">
              <a:lnSpc>
                <a:spcPct val="150000"/>
              </a:lnSpc>
            </a:pPr>
            <a:r>
              <a:rPr lang="ko-KR" altLang="en-US" sz="2000" err="1">
                <a:ea typeface="맑은 고딕"/>
              </a:rPr>
              <a:t>vs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Herustic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Bot에서</a:t>
            </a:r>
            <a:r>
              <a:rPr lang="ko-KR" altLang="en-US" sz="2000">
                <a:ea typeface="맑은 고딕"/>
              </a:rPr>
              <a:t> 70% 이상의 승률을 가지도록 </a:t>
            </a:r>
            <a:r>
              <a:rPr lang="ko-KR" altLang="en-US" sz="2000" err="1">
                <a:ea typeface="맑은 고딕"/>
              </a:rPr>
              <a:t>Agent를</a:t>
            </a:r>
            <a:r>
              <a:rPr lang="ko-KR" altLang="en-US" sz="2000">
                <a:ea typeface="맑은 고딕"/>
              </a:rPr>
              <a:t> 학습</a:t>
            </a:r>
          </a:p>
          <a:p>
            <a:pPr>
              <a:lnSpc>
                <a:spcPct val="150000"/>
              </a:lnSpc>
            </a:pPr>
            <a:endParaRPr lang="ko-KR" altLang="en-US" sz="2000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19491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BCE6-60E4-BC5B-1C5B-230AFCA9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630EF-EAF5-6B51-7284-2B848471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환경 및 데이터셋 정의</a:t>
            </a:r>
            <a:r>
              <a:rPr lang="ko-KR" altLang="en-US" dirty="0">
                <a:ea typeface="맑은 고딕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FB45BA-FC4E-A92A-1D5F-1FC8C1F29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err="1">
                <a:latin typeface="맑은 고딕" panose="020F0502020204030204"/>
                <a:ea typeface="맑은 고딕"/>
              </a:rPr>
              <a:t>상태</a:t>
            </a:r>
            <a:r>
              <a:rPr lang="en-US" altLang="ko-KR" b="1">
                <a:latin typeface="맑은 고딕" panose="020F0502020204030204"/>
                <a:ea typeface="맑은 고딕"/>
              </a:rPr>
              <a:t>(Observation) </a:t>
            </a:r>
            <a:r>
              <a:rPr lang="en-US" altLang="ko-KR" b="1" err="1">
                <a:latin typeface="맑은 고딕" panose="020F0502020204030204"/>
                <a:ea typeface="맑은 고딕"/>
              </a:rPr>
              <a:t>공간</a:t>
            </a:r>
            <a:r>
              <a:rPr lang="en-US" altLang="ko-KR" b="1">
                <a:latin typeface="맑은 고딕" panose="020F0502020204030204"/>
                <a:ea typeface="맑은 고딕"/>
              </a:rPr>
              <a:t> </a:t>
            </a:r>
            <a:r>
              <a:rPr lang="en-US" altLang="ko-KR" b="1" err="1">
                <a:latin typeface="맑은 고딕" panose="020F0502020204030204"/>
                <a:ea typeface="맑은 고딕"/>
              </a:rPr>
              <a:t>구조</a:t>
            </a:r>
            <a:endParaRPr lang="en-US" altLang="ko-KR" b="1">
              <a:latin typeface="맑은 고딕" panose="020F0502020204030204"/>
              <a:ea typeface="맑은 고딕"/>
            </a:endParaRPr>
          </a:p>
          <a:p>
            <a:endParaRPr lang="en-US" altLang="ko-KR" sz="2000">
              <a:latin typeface="맑은 고딕" panose="020F0502020204030204"/>
              <a:ea typeface="맑은 고딕"/>
            </a:endParaRPr>
          </a:p>
          <a:p>
            <a:r>
              <a:rPr lang="ko-KR" altLang="en-US" sz="2000">
                <a:ea typeface="+mn-lt"/>
                <a:cs typeface="+mn-lt"/>
              </a:rPr>
              <a:t>보드게임의 상태를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하나의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실수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벡터</a:t>
            </a:r>
            <a:r>
              <a:rPr lang="en-US" sz="2000" err="1">
                <a:ea typeface="+mn-lt"/>
                <a:cs typeface="+mn-lt"/>
              </a:rPr>
              <a:t>로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인코딩</a:t>
            </a:r>
            <a:endParaRPr lang="en-US" sz="2000">
              <a:ea typeface="+mn-lt"/>
              <a:cs typeface="+mn-lt"/>
            </a:endParaRPr>
          </a:p>
          <a:p>
            <a:r>
              <a:rPr lang="ko-KR" altLang="en-US" sz="2000">
                <a:latin typeface="맑은 고딕" panose="020F0502020204030204"/>
                <a:ea typeface="맑은 고딕"/>
              </a:rPr>
              <a:t>구성 요소</a:t>
            </a:r>
            <a:endParaRPr lang="en-US" sz="2000">
              <a:latin typeface="맑은 고딕" panose="020F0502020204030204"/>
              <a:ea typeface="맑은 고딕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</a:rPr>
              <a:t>보드 기반 : </a:t>
            </a:r>
            <a:r>
              <a:rPr lang="en-US" altLang="ko-KR" sz="1600">
                <a:latin typeface="Malgun Gothic"/>
                <a:ea typeface="Malgun Gothic"/>
              </a:rPr>
              <a:t>6칸 * 6</a:t>
            </a:r>
            <a:r>
              <a:rPr lang="ko-KR" sz="1600">
                <a:latin typeface="Malgun Gothic"/>
                <a:ea typeface="Malgun Gothic"/>
              </a:rPr>
              <a:t>칸 * </a:t>
            </a:r>
            <a:r>
              <a:rPr lang="en-US" altLang="ko-KR" sz="1600">
                <a:latin typeface="Malgun Gothic"/>
                <a:ea typeface="Malgun Gothic"/>
              </a:rPr>
              <a:t>16</a:t>
            </a:r>
            <a:r>
              <a:rPr lang="ko-KR" sz="1600">
                <a:latin typeface="Malgun Gothic"/>
                <a:ea typeface="Malgun Gothic"/>
              </a:rPr>
              <a:t>차원 = </a:t>
            </a:r>
            <a:r>
              <a:rPr lang="en-US" altLang="ko-KR" sz="1600">
                <a:latin typeface="Malgun Gothic"/>
                <a:ea typeface="Malgun Gothic"/>
              </a:rPr>
              <a:t>1024차원</a:t>
            </a:r>
            <a:endParaRPr lang="ko-KR" altLang="en-US" sz="1600">
              <a:latin typeface="Malgun Gothic"/>
              <a:ea typeface="Malgun Gothic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ko-KR" sz="1600" err="1">
                <a:latin typeface="Malgun Gothic"/>
                <a:ea typeface="Malgun Gothic"/>
              </a:rPr>
              <a:t>손패</a:t>
            </a:r>
            <a:r>
              <a:rPr lang="ko-KR" sz="1600">
                <a:latin typeface="Malgun Gothic"/>
                <a:ea typeface="Malgun Gothic"/>
              </a:rPr>
              <a:t> 관련 : </a:t>
            </a:r>
            <a:r>
              <a:rPr lang="en-US" altLang="ko-KR" sz="1600">
                <a:latin typeface="Malgun Gothic"/>
                <a:ea typeface="Malgun Gothic"/>
              </a:rPr>
              <a:t>5개 * 16 = 80차원</a:t>
            </a:r>
            <a:endParaRPr lang="ko-KR" altLang="en-US" sz="1600">
              <a:latin typeface="Malgun Gothic"/>
              <a:ea typeface="Malgun Gothic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</a:rPr>
              <a:t>상대 </a:t>
            </a:r>
            <a:r>
              <a:rPr lang="ko-KR" altLang="en-US" sz="1600" err="1">
                <a:latin typeface="Malgun Gothic"/>
                <a:ea typeface="Malgun Gothic"/>
              </a:rPr>
              <a:t>손패</a:t>
            </a:r>
            <a:r>
              <a:rPr lang="ko-KR" altLang="en-US" sz="1600">
                <a:latin typeface="Malgun Gothic"/>
                <a:ea typeface="Malgun Gothic"/>
              </a:rPr>
              <a:t> 관련 </a:t>
            </a:r>
            <a:r>
              <a:rPr lang="ko-KR" sz="1600">
                <a:latin typeface="Malgun Gothic"/>
                <a:ea typeface="Malgun Gothic"/>
              </a:rPr>
              <a:t>: 5개 * </a:t>
            </a:r>
            <a:r>
              <a:rPr lang="en-US" altLang="ko-KR" sz="1600">
                <a:latin typeface="Malgun Gothic"/>
                <a:ea typeface="Malgun Gothic"/>
              </a:rPr>
              <a:t>16</a:t>
            </a:r>
            <a:r>
              <a:rPr lang="ko-KR" sz="1600">
                <a:latin typeface="Malgun Gothic"/>
                <a:ea typeface="Malgun Gothic"/>
              </a:rPr>
              <a:t> =</a:t>
            </a:r>
            <a:r>
              <a:rPr lang="ko-KR" altLang="en-US" sz="1600">
                <a:latin typeface="Malgun Gothic"/>
                <a:ea typeface="Malgun Gothic"/>
              </a:rPr>
              <a:t> 80차원</a:t>
            </a:r>
            <a:endParaRPr lang="ko-KR"/>
          </a:p>
          <a:p>
            <a:r>
              <a:rPr lang="ko-KR" altLang="en-US" sz="2000">
                <a:ea typeface="맑은 고딕"/>
              </a:rPr>
              <a:t>최종 관측 차원: 1024 + 80 + 80 = 1184 차원</a:t>
            </a:r>
          </a:p>
          <a:p>
            <a:r>
              <a:rPr lang="ko-KR" sz="1800">
                <a:ea typeface="+mn-lt"/>
                <a:cs typeface="+mn-lt"/>
              </a:rPr>
              <a:t>현재 보드가 어떤 연결된 구조</a:t>
            </a:r>
            <a:r>
              <a:rPr lang="ko-KR" altLang="en-US" sz="1800">
                <a:ea typeface="+mn-lt"/>
                <a:cs typeface="+mn-lt"/>
              </a:rPr>
              <a:t>를</a:t>
            </a:r>
            <a:r>
              <a:rPr lang="ko-KR" sz="1800">
                <a:ea typeface="+mn-lt"/>
                <a:cs typeface="+mn-lt"/>
              </a:rPr>
              <a:t> 가지고 </a:t>
            </a:r>
            <a:r>
              <a:rPr lang="ko-KR" altLang="en-US" sz="1800">
                <a:ea typeface="+mn-lt"/>
                <a:cs typeface="+mn-lt"/>
              </a:rPr>
              <a:t>있는지 까지</a:t>
            </a:r>
            <a:r>
              <a:rPr lang="ko-KR" sz="1800">
                <a:ea typeface="+mn-lt"/>
                <a:cs typeface="+mn-lt"/>
              </a:rPr>
              <a:t> 상태 벡터에 직접 포함해,</a:t>
            </a:r>
            <a:r>
              <a:rPr lang="ko-KR" altLang="en-US" sz="1800">
                <a:ea typeface="+mn-lt"/>
                <a:cs typeface="+mn-lt"/>
              </a:rPr>
              <a:t> </a:t>
            </a:r>
            <a:r>
              <a:rPr lang="ko-KR" sz="1800">
                <a:ea typeface="+mn-lt"/>
                <a:cs typeface="+mn-lt"/>
              </a:rPr>
              <a:t>에이전트가 연결성 기반 점수 구조를 더 쉽게 학습할 수 있도록 했다. 또한 나와 </a:t>
            </a:r>
            <a:r>
              <a:rPr lang="ko-KR" altLang="en-US" sz="1800">
                <a:ea typeface="+mn-lt"/>
                <a:cs typeface="+mn-lt"/>
              </a:rPr>
              <a:t>상대방의 남아있는 타일까지 포함하여 인코딩</a:t>
            </a:r>
            <a:endParaRPr lang="ko-KR" altLang="en-US" sz="18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sz="1600">
              <a:ea typeface="맑은 고딕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US" altLang="ko-KR" sz="1200">
              <a:ea typeface="맑은 고딕"/>
            </a:endParaRPr>
          </a:p>
          <a:p>
            <a:endParaRPr lang="en-US" altLang="ko-KR" sz="2000">
              <a:ea typeface="맑은 고딕"/>
            </a:endParaRPr>
          </a:p>
          <a:p>
            <a:endParaRPr lang="en-US" altLang="ko-KR">
              <a:ea typeface="맑은 고딕"/>
            </a:endParaRPr>
          </a:p>
          <a:p>
            <a:endParaRPr lang="en-US" altLang="ko-KR">
              <a:ea typeface="맑은 고딕"/>
            </a:endParaRPr>
          </a:p>
          <a:p>
            <a:endParaRPr lang="en-US" altLang="ko-KR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802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A3755-76EC-7BCC-B9CA-A31DAC6D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589103-A2CF-E536-D183-CC81F85F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4600">
                <a:ea typeface="맑은 고딕"/>
              </a:rPr>
              <a:t>환경 및 데이터셋 정의 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083C4-0377-CD51-E9CA-AED9E371C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sz="2200" b="1">
                <a:ea typeface="+mn-lt"/>
                <a:cs typeface="+mn-lt"/>
              </a:rPr>
              <a:t>타일 기본 속성</a:t>
            </a:r>
            <a:endParaRPr lang="ko-KR" altLang="en-US" sz="2200" b="1"/>
          </a:p>
          <a:p>
            <a:pPr marL="0" indent="0">
              <a:buNone/>
            </a:pPr>
            <a:endParaRPr lang="en-US" altLang="ko-KR" sz="2200" b="1">
              <a:ea typeface="맑은 고딕"/>
            </a:endParaRPr>
          </a:p>
          <a:p>
            <a:pPr>
              <a:buNone/>
            </a:pPr>
            <a:endParaRPr lang="en-US" sz="2200">
              <a:ea typeface="맑은 고딕"/>
            </a:endParaRPr>
          </a:p>
          <a:p>
            <a:pPr marL="0" indent="0">
              <a:buNone/>
            </a:pPr>
            <a:endParaRPr lang="en-US" altLang="ko-KR" sz="2200" b="1">
              <a:ea typeface="맑은 고딕"/>
            </a:endParaRPr>
          </a:p>
          <a:p>
            <a:pPr marL="0" indent="0">
              <a:buNone/>
            </a:pPr>
            <a:endParaRPr lang="en-US" altLang="ko-KR" sz="2200" b="1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2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2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sz="2200">
              <a:ea typeface="맑은 고딕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ko-KR" altLang="en-US" sz="2200">
              <a:ea typeface="맑은 고딕"/>
            </a:endParaRPr>
          </a:p>
          <a:p>
            <a:endParaRPr lang="ko-KR" sz="2200">
              <a:ea typeface="맑은 고딕"/>
            </a:endParaRPr>
          </a:p>
          <a:p>
            <a:endParaRPr lang="ko-KR" altLang="en-US" sz="2200">
              <a:ea typeface="맑은 고딕"/>
            </a:endParaRPr>
          </a:p>
          <a:p>
            <a:endParaRPr lang="ko-KR" altLang="en-US" sz="2200">
              <a:ea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6481375-CBF6-2D35-2845-850786DCD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40504"/>
              </p:ext>
            </p:extLst>
          </p:nvPr>
        </p:nvGraphicFramePr>
        <p:xfrm>
          <a:off x="4654296" y="853138"/>
          <a:ext cx="7189479" cy="5712589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75852">
                  <a:extLst>
                    <a:ext uri="{9D8B030D-6E8A-4147-A177-3AD203B41FA5}">
                      <a16:colId xmlns:a16="http://schemas.microsoft.com/office/drawing/2014/main" val="582701778"/>
                    </a:ext>
                  </a:extLst>
                </a:gridCol>
                <a:gridCol w="2435524">
                  <a:extLst>
                    <a:ext uri="{9D8B030D-6E8A-4147-A177-3AD203B41FA5}">
                      <a16:colId xmlns:a16="http://schemas.microsoft.com/office/drawing/2014/main" val="1855706337"/>
                    </a:ext>
                  </a:extLst>
                </a:gridCol>
                <a:gridCol w="2478103">
                  <a:extLst>
                    <a:ext uri="{9D8B030D-6E8A-4147-A177-3AD203B41FA5}">
                      <a16:colId xmlns:a16="http://schemas.microsoft.com/office/drawing/2014/main" val="3888895934"/>
                    </a:ext>
                  </a:extLst>
                </a:gridCol>
              </a:tblGrid>
              <a:tr h="394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피처</a:t>
                      </a:r>
                    </a:p>
                  </a:txBody>
                  <a:tcPr marL="73596" marR="73596" marT="36798" marB="3679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의미</a:t>
                      </a:r>
                    </a:p>
                  </a:txBody>
                  <a:tcPr marL="73596" marR="73596" marT="36798" marB="3679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넣은 이유</a:t>
                      </a:r>
                    </a:p>
                  </a:txBody>
                  <a:tcPr marL="73596" marR="73596" marT="36798" marB="3679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17046"/>
                  </a:ext>
                </a:extLst>
              </a:tr>
              <a:tr h="15669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색 </a:t>
                      </a:r>
                      <a:r>
                        <a:rPr lang="af-ZA" sz="1400" err="1"/>
                        <a:t>one</a:t>
                      </a:r>
                      <a:r>
                        <a:rPr lang="af-ZA" sz="1400" dirty="0"/>
                        <a:t>-hot (R, G, B, Y)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해당 칸 타일의 색을 </a:t>
                      </a:r>
                      <a:r>
                        <a:rPr lang="af-ZA" sz="1400" err="1"/>
                        <a:t>one</a:t>
                      </a:r>
                      <a:r>
                        <a:rPr lang="af-ZA" sz="1400" dirty="0"/>
                        <a:t>-hot</a:t>
                      </a:r>
                      <a:r>
                        <a:rPr lang="ko-KR" altLang="en-US" sz="1400" err="1"/>
                        <a:t>으로</a:t>
                      </a:r>
                      <a:r>
                        <a:rPr lang="ko-KR" altLang="en-US" sz="1400" dirty="0"/>
                        <a:t> 표현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색별로 클러스터를 만드는 것이 </a:t>
                      </a:r>
                      <a:r>
                        <a:rPr lang="af-ZA" sz="1400" dirty="0"/>
                        <a:t>SECOND(</a:t>
                      </a:r>
                      <a:r>
                        <a:rPr lang="ko-KR" altLang="en-US" sz="1400" dirty="0"/>
                        <a:t>색 점수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에게 중요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에이전트가 색 패턴과 잠재 점수를 구분할 수 있도록 하기 위함</a:t>
                      </a:r>
                    </a:p>
                  </a:txBody>
                  <a:tcPr marL="73596" marR="73596" marT="36798" marB="36798" anchor="ctr"/>
                </a:tc>
                <a:extLst>
                  <a:ext uri="{0D108BD9-81ED-4DB2-BD59-A6C34878D82A}">
                    <a16:rowId xmlns:a16="http://schemas.microsoft.com/office/drawing/2014/main" val="4227215869"/>
                  </a:ext>
                </a:extLst>
              </a:tr>
              <a:tr h="13325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문양 </a:t>
                      </a:r>
                      <a:r>
                        <a:rPr lang="af-ZA" sz="1400" err="1"/>
                        <a:t>one</a:t>
                      </a:r>
                      <a:r>
                        <a:rPr lang="af-ZA" sz="1400" dirty="0"/>
                        <a:t>-hot (1, 2, 3, 4)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해당 칸 타일의 문양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심볼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을 </a:t>
                      </a:r>
                      <a:r>
                        <a:rPr lang="af-ZA" sz="1400" err="1"/>
                        <a:t>one</a:t>
                      </a:r>
                      <a:r>
                        <a:rPr lang="af-ZA" sz="1400" dirty="0"/>
                        <a:t>-hot</a:t>
                      </a:r>
                      <a:r>
                        <a:rPr lang="ko-KR" altLang="en-US" sz="1400" err="1"/>
                        <a:t>으로</a:t>
                      </a:r>
                      <a:r>
                        <a:rPr lang="ko-KR" altLang="en-US" sz="1400" dirty="0"/>
                        <a:t> 표현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문양 클러스터는 </a:t>
                      </a:r>
                      <a:r>
                        <a:rPr lang="af-ZA" sz="1400" dirty="0"/>
                        <a:t>FIRST(</a:t>
                      </a:r>
                      <a:r>
                        <a:rPr lang="ko-KR" altLang="en-US" sz="1400" dirty="0"/>
                        <a:t>문양 점수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의 핵심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어떤 문양 위주로 라인이 형성되는지 파악하게 하기 위함</a:t>
                      </a:r>
                    </a:p>
                  </a:txBody>
                  <a:tcPr marL="73596" marR="73596" marT="36798" marB="36798" anchor="ctr"/>
                </a:tc>
                <a:extLst>
                  <a:ext uri="{0D108BD9-81ED-4DB2-BD59-A6C34878D82A}">
                    <a16:rowId xmlns:a16="http://schemas.microsoft.com/office/drawing/2014/main" val="2909755099"/>
                  </a:ext>
                </a:extLst>
              </a:tr>
              <a:tr h="13325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af-ZA" sz="1400" err="1"/>
                        <a:t>owner</a:t>
                      </a:r>
                      <a:r>
                        <a:rPr lang="af-ZA" sz="1400" dirty="0"/>
                        <a:t> </a:t>
                      </a:r>
                      <a:r>
                        <a:rPr lang="ko-KR" altLang="en-US" sz="1400" dirty="0"/>
                        <a:t>플래그 </a:t>
                      </a:r>
                      <a:r>
                        <a:rPr lang="en-US" altLang="ko-KR" sz="1400" dirty="0"/>
                        <a:t>(-1, 0, 1)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내 돌이면 </a:t>
                      </a:r>
                      <a:r>
                        <a:rPr lang="en-US" altLang="ko-KR" sz="1400" dirty="0"/>
                        <a:t>1, </a:t>
                      </a:r>
                      <a:r>
                        <a:rPr lang="ko-KR" altLang="en-US" sz="1400" dirty="0"/>
                        <a:t>상대 돌이면 </a:t>
                      </a:r>
                      <a:r>
                        <a:rPr lang="en-US" altLang="ko-KR" sz="1400" dirty="0"/>
                        <a:t>-1, </a:t>
                      </a:r>
                      <a:r>
                        <a:rPr lang="ko-KR" altLang="en-US" sz="1400" dirty="0"/>
                        <a:t>빈칸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미정이면 </a:t>
                      </a:r>
                      <a:r>
                        <a:rPr lang="en-US" altLang="ko-KR" sz="1400" dirty="0"/>
                        <a:t>0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같은 패턴이라도 ‘누구의 </a:t>
                      </a:r>
                      <a:r>
                        <a:rPr lang="ko-KR" altLang="en-US" sz="1400" err="1"/>
                        <a:t>점수인지’가</a:t>
                      </a:r>
                      <a:r>
                        <a:rPr lang="ko-KR" altLang="en-US" sz="1400" dirty="0"/>
                        <a:t> 다름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내 라인 </a:t>
                      </a:r>
                      <a:r>
                        <a:rPr lang="af-ZA" sz="1400" err="1"/>
                        <a:t>vs</a:t>
                      </a:r>
                      <a:r>
                        <a:rPr lang="af-ZA" sz="1400" dirty="0"/>
                        <a:t> </a:t>
                      </a:r>
                      <a:r>
                        <a:rPr lang="ko-KR" altLang="en-US" sz="1400" dirty="0"/>
                        <a:t>상대 라인을 명확히 구분하여 공격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수비 전략을 학습시키기 위함</a:t>
                      </a:r>
                    </a:p>
                  </a:txBody>
                  <a:tcPr marL="73596" marR="73596" marT="36798" marB="36798" anchor="ctr"/>
                </a:tc>
                <a:extLst>
                  <a:ext uri="{0D108BD9-81ED-4DB2-BD59-A6C34878D82A}">
                    <a16:rowId xmlns:a16="http://schemas.microsoft.com/office/drawing/2014/main" val="1690664465"/>
                  </a:ext>
                </a:extLst>
              </a:tr>
              <a:tr h="108576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af-ZA" sz="1400" err="1"/>
                        <a:t>occupancy</a:t>
                      </a:r>
                      <a:r>
                        <a:rPr lang="af-ZA" sz="1400" dirty="0"/>
                        <a:t> (0 </a:t>
                      </a:r>
                      <a:r>
                        <a:rPr lang="ko-KR" altLang="en-US" sz="1400" dirty="0"/>
                        <a:t>또는 </a:t>
                      </a:r>
                      <a:r>
                        <a:rPr lang="en-US" altLang="ko-KR" sz="1400" dirty="0"/>
                        <a:t>1)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비어 있으면 </a:t>
                      </a:r>
                      <a:r>
                        <a:rPr lang="en-US" altLang="ko-KR" sz="1400" dirty="0"/>
                        <a:t>0, </a:t>
                      </a:r>
                      <a:r>
                        <a:rPr lang="ko-KR" altLang="en-US" sz="1400" dirty="0"/>
                        <a:t>돌이 있으면 </a:t>
                      </a:r>
                      <a:r>
                        <a:rPr lang="en-US" altLang="ko-KR" sz="1400" dirty="0"/>
                        <a:t>1</a:t>
                      </a:r>
                    </a:p>
                  </a:txBody>
                  <a:tcPr marL="73596" marR="73596" marT="36798" marB="367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400" dirty="0"/>
                        <a:t>보드 점유 상태를 빠르게 파악</a:t>
                      </a:r>
                      <a:r>
                        <a:rPr lang="en-US" altLang="ko-KR" sz="1400" dirty="0"/>
                        <a:t>, ‘</a:t>
                      </a:r>
                      <a:r>
                        <a:rPr lang="ko-KR" altLang="en-US" sz="1400" dirty="0"/>
                        <a:t>둘 수 있는 자리 </a:t>
                      </a:r>
                      <a:r>
                        <a:rPr lang="af-ZA" sz="1400" err="1"/>
                        <a:t>vs</a:t>
                      </a:r>
                      <a:r>
                        <a:rPr lang="af-ZA" sz="1400" dirty="0"/>
                        <a:t> </a:t>
                      </a:r>
                      <a:r>
                        <a:rPr lang="ko-KR" altLang="en-US" sz="1400" dirty="0"/>
                        <a:t>이미 막힌 </a:t>
                      </a:r>
                      <a:r>
                        <a:rPr lang="ko-KR" altLang="en-US" sz="1400" err="1"/>
                        <a:t>자리’를</a:t>
                      </a:r>
                      <a:r>
                        <a:rPr lang="ko-KR" altLang="en-US" sz="1400" dirty="0"/>
                        <a:t> 구분하는 기본 정보</a:t>
                      </a:r>
                    </a:p>
                  </a:txBody>
                  <a:tcPr marL="73596" marR="73596" marT="36798" marB="36798" anchor="ctr"/>
                </a:tc>
                <a:extLst>
                  <a:ext uri="{0D108BD9-81ED-4DB2-BD59-A6C34878D82A}">
                    <a16:rowId xmlns:a16="http://schemas.microsoft.com/office/drawing/2014/main" val="1647908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913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610CC-E8B9-4C06-3B0E-5D553C38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AAB501-D2F0-A88B-E264-BED36A68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4600">
                <a:ea typeface="맑은 고딕"/>
              </a:rPr>
              <a:t>환경 및 데이터셋 정의 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3865C-5A6C-F852-485D-6780FA798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구조/연결성 정보</a:t>
            </a:r>
            <a:endParaRPr lang="ko-KR" altLang="en-US" sz="2200" b="1"/>
          </a:p>
          <a:p>
            <a:pPr marL="0" indent="0">
              <a:buNone/>
            </a:pPr>
            <a:endParaRPr lang="en-US" altLang="ko-KR" sz="2200" b="1">
              <a:ea typeface="맑은 고딕"/>
            </a:endParaRPr>
          </a:p>
          <a:p>
            <a:pPr>
              <a:buNone/>
            </a:pPr>
            <a:endParaRPr lang="en-US" sz="2200">
              <a:ea typeface="맑은 고딕"/>
            </a:endParaRPr>
          </a:p>
          <a:p>
            <a:pPr marL="0" indent="0">
              <a:buNone/>
            </a:pPr>
            <a:endParaRPr lang="en-US" altLang="ko-KR" sz="2200" b="1">
              <a:ea typeface="맑은 고딕"/>
            </a:endParaRPr>
          </a:p>
          <a:p>
            <a:pPr marL="0" indent="0">
              <a:buNone/>
            </a:pPr>
            <a:endParaRPr lang="en-US" altLang="ko-KR" sz="2200" b="1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2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2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sz="2200">
              <a:ea typeface="맑은 고딕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en-US" altLang="ko-KR" sz="2200">
              <a:ea typeface="맑은 고딕"/>
            </a:endParaRPr>
          </a:p>
          <a:p>
            <a:endParaRPr lang="ko-KR" altLang="en-US" sz="2200">
              <a:ea typeface="맑은 고딕"/>
            </a:endParaRPr>
          </a:p>
          <a:p>
            <a:endParaRPr lang="ko-KR" sz="2200">
              <a:ea typeface="맑은 고딕"/>
            </a:endParaRPr>
          </a:p>
          <a:p>
            <a:endParaRPr lang="ko-KR" altLang="en-US" sz="2200">
              <a:ea typeface="맑은 고딕"/>
            </a:endParaRPr>
          </a:p>
          <a:p>
            <a:endParaRPr lang="ko-KR" altLang="en-US" sz="2200">
              <a:ea typeface="맑은 고딕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03277BD-290A-ACFF-4F04-A0E8695D1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242258"/>
              </p:ext>
            </p:extLst>
          </p:nvPr>
        </p:nvGraphicFramePr>
        <p:xfrm>
          <a:off x="4629509" y="402566"/>
          <a:ext cx="6926661" cy="5965613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08411">
                  <a:extLst>
                    <a:ext uri="{9D8B030D-6E8A-4147-A177-3AD203B41FA5}">
                      <a16:colId xmlns:a16="http://schemas.microsoft.com/office/drawing/2014/main" val="2084936256"/>
                    </a:ext>
                  </a:extLst>
                </a:gridCol>
                <a:gridCol w="2314116">
                  <a:extLst>
                    <a:ext uri="{9D8B030D-6E8A-4147-A177-3AD203B41FA5}">
                      <a16:colId xmlns:a16="http://schemas.microsoft.com/office/drawing/2014/main" val="1726761717"/>
                    </a:ext>
                  </a:extLst>
                </a:gridCol>
                <a:gridCol w="2304134">
                  <a:extLst>
                    <a:ext uri="{9D8B030D-6E8A-4147-A177-3AD203B41FA5}">
                      <a16:colId xmlns:a16="http://schemas.microsoft.com/office/drawing/2014/main" val="2039054038"/>
                    </a:ext>
                  </a:extLst>
                </a:gridCol>
              </a:tblGrid>
              <a:tr h="446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/>
                        <a:t>피처</a:t>
                      </a:r>
                    </a:p>
                  </a:txBody>
                  <a:tcPr marL="71879" marR="71879" marT="35940" marB="359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/>
                        <a:t>의미</a:t>
                      </a:r>
                    </a:p>
                  </a:txBody>
                  <a:tcPr marL="71879" marR="71879" marT="35940" marB="359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/>
                        <a:t>넣은 이유</a:t>
                      </a:r>
                    </a:p>
                  </a:txBody>
                  <a:tcPr marL="71879" marR="71879" marT="35940" marB="3594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798619"/>
                  </a:ext>
                </a:extLst>
              </a:tr>
              <a:tr h="191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 err="1"/>
                        <a:t>empty_neighbors</a:t>
                      </a:r>
                      <a:r>
                        <a:rPr lang="af-ZA" sz="1400"/>
                        <a:t> / 3.0</a:t>
                      </a:r>
                    </a:p>
                  </a:txBody>
                  <a:tcPr marL="71879" marR="71879" marT="35940" marB="35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해당 칸 기준 인접한 칸들 중 빈칸의 개수를 </a:t>
                      </a:r>
                      <a:r>
                        <a:rPr lang="en-US" altLang="ko-KR" sz="1400"/>
                        <a:t>3.0</a:t>
                      </a:r>
                      <a:r>
                        <a:rPr lang="ko-KR" altLang="en-US" sz="1400" err="1"/>
                        <a:t>으로</a:t>
                      </a:r>
                      <a:r>
                        <a:rPr lang="ko-KR" altLang="en-US" sz="1400"/>
                        <a:t> 나누어 정규화</a:t>
                      </a:r>
                    </a:p>
                  </a:txBody>
                  <a:tcPr marL="71879" marR="71879" marT="35940" marB="35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주변에 빈칸이 많으면 확장성이 좋은 자리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적으면 막힌 자리임</a:t>
                      </a:r>
                      <a:r>
                        <a:rPr lang="en-US" altLang="ko-KR" sz="1400"/>
                        <a:t>. </a:t>
                      </a:r>
                      <a:r>
                        <a:rPr lang="ko-KR" altLang="en-US" sz="1400"/>
                        <a:t>국소적인 “확장 </a:t>
                      </a:r>
                      <a:r>
                        <a:rPr lang="ko-KR" altLang="en-US" sz="1400" err="1"/>
                        <a:t>가능성”을</a:t>
                      </a:r>
                      <a:r>
                        <a:rPr lang="ko-KR" altLang="en-US" sz="1400"/>
                        <a:t> 알려줘서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나중에 클러스터를 더 키우기 좋은 위치를 선호하도록 하기 위함</a:t>
                      </a:r>
                    </a:p>
                  </a:txBody>
                  <a:tcPr marL="71879" marR="71879" marT="35940" marB="35940" anchor="ctr"/>
                </a:tc>
                <a:extLst>
                  <a:ext uri="{0D108BD9-81ED-4DB2-BD59-A6C34878D82A}">
                    <a16:rowId xmlns:a16="http://schemas.microsoft.com/office/drawing/2014/main" val="1588869425"/>
                  </a:ext>
                </a:extLst>
              </a:tr>
              <a:tr h="1691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문양 컴포넌트 크기 </a:t>
                      </a:r>
                      <a:r>
                        <a:rPr lang="en-US" altLang="ko-KR" sz="1400"/>
                        <a:t>/ 32.0</a:t>
                      </a:r>
                    </a:p>
                  </a:txBody>
                  <a:tcPr marL="71879" marR="71879" marT="35940" marB="35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/>
                        <a:t>FIRST(</a:t>
                      </a:r>
                      <a:r>
                        <a:rPr lang="ko-KR" altLang="en-US" sz="1400"/>
                        <a:t>문양 기준</a:t>
                      </a:r>
                      <a:r>
                        <a:rPr lang="en-US" altLang="ko-KR" sz="1400"/>
                        <a:t>) </a:t>
                      </a:r>
                      <a:r>
                        <a:rPr lang="af-ZA" sz="1400"/>
                        <a:t>DSU</a:t>
                      </a:r>
                      <a:r>
                        <a:rPr lang="ko-KR" altLang="en-US" sz="1400"/>
                        <a:t>에서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이 칸이 속한 문양 컴포넌트의 크기를 </a:t>
                      </a:r>
                      <a:r>
                        <a:rPr lang="en-US" altLang="ko-KR" sz="1400"/>
                        <a:t>32</a:t>
                      </a:r>
                      <a:r>
                        <a:rPr lang="ko-KR" altLang="en-US" sz="1400"/>
                        <a:t>로 나눈 값</a:t>
                      </a:r>
                    </a:p>
                  </a:txBody>
                  <a:tcPr marL="71879" marR="71879" marT="35940" marB="35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/>
                        <a:t>FIRST </a:t>
                      </a:r>
                      <a:r>
                        <a:rPr lang="ko-KR" altLang="en-US" sz="1400"/>
                        <a:t>입장에서는 “문양 클러스터 크기 </a:t>
                      </a:r>
                      <a:r>
                        <a:rPr lang="ko-KR" altLang="en-US" sz="1400" err="1"/>
                        <a:t>제곱”이</a:t>
                      </a:r>
                      <a:r>
                        <a:rPr lang="ko-KR" altLang="en-US" sz="1400"/>
                        <a:t> 점수</a:t>
                      </a:r>
                      <a:r>
                        <a:rPr lang="en-US" altLang="ko-KR" sz="1400"/>
                        <a:t>. </a:t>
                      </a:r>
                      <a:r>
                        <a:rPr lang="ko-KR" altLang="en-US" sz="1400"/>
                        <a:t>지금 칸이 속한 문양 연결이 얼마나 큰지 알려줘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이 클러스터를 더 키우는 수를 우선순위 높게 보도록 하기 위함</a:t>
                      </a:r>
                    </a:p>
                  </a:txBody>
                  <a:tcPr marL="71879" marR="71879" marT="35940" marB="35940" anchor="ctr"/>
                </a:tc>
                <a:extLst>
                  <a:ext uri="{0D108BD9-81ED-4DB2-BD59-A6C34878D82A}">
                    <a16:rowId xmlns:a16="http://schemas.microsoft.com/office/drawing/2014/main" val="128473559"/>
                  </a:ext>
                </a:extLst>
              </a:tr>
              <a:tr h="191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색 컴포넌트 크기 </a:t>
                      </a:r>
                      <a:r>
                        <a:rPr lang="en-US" altLang="ko-KR" sz="1400"/>
                        <a:t>/ 32.0</a:t>
                      </a:r>
                    </a:p>
                  </a:txBody>
                  <a:tcPr marL="71879" marR="71879" marT="35940" marB="35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/>
                        <a:t>SECOND(</a:t>
                      </a:r>
                      <a:r>
                        <a:rPr lang="ko-KR" altLang="en-US" sz="1400"/>
                        <a:t>색 기준</a:t>
                      </a:r>
                      <a:r>
                        <a:rPr lang="en-US" altLang="ko-KR" sz="1400"/>
                        <a:t>) </a:t>
                      </a:r>
                      <a:r>
                        <a:rPr lang="af-ZA" sz="1400"/>
                        <a:t>DSU</a:t>
                      </a:r>
                      <a:r>
                        <a:rPr lang="ko-KR" altLang="en-US" sz="1400"/>
                        <a:t>에서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이 칸이 속한 색 컴포넌트의 크기를 </a:t>
                      </a:r>
                      <a:r>
                        <a:rPr lang="en-US" altLang="ko-KR" sz="1400"/>
                        <a:t>32</a:t>
                      </a:r>
                      <a:r>
                        <a:rPr lang="ko-KR" altLang="en-US" sz="1400"/>
                        <a:t>로 나눈 값</a:t>
                      </a:r>
                    </a:p>
                  </a:txBody>
                  <a:tcPr marL="71879" marR="71879" marT="35940" marB="35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/>
                        <a:t>SECOND </a:t>
                      </a:r>
                      <a:r>
                        <a:rPr lang="ko-KR" altLang="en-US" sz="1400"/>
                        <a:t>입장에서는 색 클러스터가 점수가 됨</a:t>
                      </a:r>
                      <a:r>
                        <a:rPr lang="en-US" altLang="ko-KR" sz="1400"/>
                        <a:t>. “</a:t>
                      </a:r>
                      <a:r>
                        <a:rPr lang="ko-KR" altLang="en-US" sz="1400"/>
                        <a:t>이 칸을 포함하는 색 연결이 얼마나 </a:t>
                      </a:r>
                      <a:r>
                        <a:rPr lang="ko-KR" altLang="en-US" sz="1400" err="1"/>
                        <a:t>성장했는지”를</a:t>
                      </a:r>
                      <a:r>
                        <a:rPr lang="ko-KR" altLang="en-US" sz="1400"/>
                        <a:t> 알려 줘서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색 라인을 더 키우거나 상대의 색 라인을 막는 전략을 학습하게 하기 위함</a:t>
                      </a:r>
                    </a:p>
                  </a:txBody>
                  <a:tcPr marL="71879" marR="71879" marT="35940" marB="35940" anchor="ctr"/>
                </a:tc>
                <a:extLst>
                  <a:ext uri="{0D108BD9-81ED-4DB2-BD59-A6C34878D82A}">
                    <a16:rowId xmlns:a16="http://schemas.microsoft.com/office/drawing/2014/main" val="2665263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601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2D0A8-C0FB-829B-6C1A-AA2F8784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C321B9E-2C51-EE7F-624C-10AD224FC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9540AE-225A-C004-67A4-BD58722A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4600">
                <a:ea typeface="맑은 고딕"/>
              </a:rPr>
              <a:t>환경 및 데이터셋 정의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0676337-EA66-C2B9-B736-CEB1EA246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29F2C-2572-F454-FF50-8777C7474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sz="2200" b="1" err="1">
                <a:ea typeface="맑은 고딕"/>
              </a:rPr>
              <a:t>잠재</a:t>
            </a:r>
            <a:r>
              <a:rPr lang="en-US" altLang="ko-KR" sz="2200" b="1">
                <a:ea typeface="맑은 고딕"/>
              </a:rPr>
              <a:t> </a:t>
            </a:r>
            <a:r>
              <a:rPr lang="ko-KR" altLang="en-US" sz="2200" b="1" err="1">
                <a:ea typeface="맑은 고딕"/>
              </a:rPr>
              <a:t>가치</a:t>
            </a:r>
            <a:endParaRPr lang="en-US" sz="2200" b="1" err="1">
              <a:ea typeface="맑은 고딕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FD1A317-58BB-90DB-3992-0BD78ED97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280619"/>
              </p:ext>
            </p:extLst>
          </p:nvPr>
        </p:nvGraphicFramePr>
        <p:xfrm>
          <a:off x="4586377" y="603849"/>
          <a:ext cx="6854157" cy="563575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4719">
                  <a:extLst>
                    <a:ext uri="{9D8B030D-6E8A-4147-A177-3AD203B41FA5}">
                      <a16:colId xmlns:a16="http://schemas.microsoft.com/office/drawing/2014/main" val="2479589427"/>
                    </a:ext>
                  </a:extLst>
                </a:gridCol>
                <a:gridCol w="2284719">
                  <a:extLst>
                    <a:ext uri="{9D8B030D-6E8A-4147-A177-3AD203B41FA5}">
                      <a16:colId xmlns:a16="http://schemas.microsoft.com/office/drawing/2014/main" val="3390422071"/>
                    </a:ext>
                  </a:extLst>
                </a:gridCol>
                <a:gridCol w="2284719">
                  <a:extLst>
                    <a:ext uri="{9D8B030D-6E8A-4147-A177-3AD203B41FA5}">
                      <a16:colId xmlns:a16="http://schemas.microsoft.com/office/drawing/2014/main" val="1277341776"/>
                    </a:ext>
                  </a:extLst>
                </a:gridCol>
              </a:tblGrid>
              <a:tr h="4696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피처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의미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넣은 이유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33469"/>
                  </a:ext>
                </a:extLst>
              </a:tr>
              <a:tr h="2583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 err="1"/>
                        <a:t>my_best_delta</a:t>
                      </a:r>
                      <a:r>
                        <a:rPr lang="af-ZA" sz="1400"/>
                        <a:t> / SCORE_SCALE (</a:t>
                      </a:r>
                      <a:r>
                        <a:rPr lang="af-ZA" sz="1400" err="1"/>
                        <a:t>clip</a:t>
                      </a:r>
                      <a:r>
                        <a:rPr lang="af-ZA" sz="1400"/>
                        <a:t>[-1,1])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“내가 이 칸에 둘 수 있는 모든 타일 중 가장 좋은 타일을 뒀을 때의 </a:t>
                      </a:r>
                      <a:r>
                        <a:rPr lang="en-US" altLang="ko-KR" sz="1400"/>
                        <a:t>((</a:t>
                      </a:r>
                      <a:r>
                        <a:rPr lang="af-ZA" sz="1400" err="1"/>
                        <a:t>my_score</a:t>
                      </a:r>
                      <a:r>
                        <a:rPr lang="af-ZA" sz="1400"/>
                        <a:t> - </a:t>
                      </a:r>
                      <a:r>
                        <a:rPr lang="af-ZA" sz="1400" err="1"/>
                        <a:t>opp_score</a:t>
                      </a:r>
                      <a:r>
                        <a:rPr lang="af-ZA" sz="1400"/>
                        <a:t>)) </a:t>
                      </a:r>
                      <a:r>
                        <a:rPr lang="ko-KR" altLang="en-US" sz="1400" err="1"/>
                        <a:t>증가량</a:t>
                      </a:r>
                      <a:r>
                        <a:rPr lang="ko-KR" altLang="en-US" sz="1400"/>
                        <a:t> 근사치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한 칸이 가장 잘 쓸 경우 어느 정도 가치가 있는지를 미리 보여주는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일종의 휴리스틱 </a:t>
                      </a:r>
                      <a:r>
                        <a:rPr lang="af-ZA" sz="1400"/>
                        <a:t>Q-</a:t>
                      </a:r>
                      <a:r>
                        <a:rPr lang="af-ZA" sz="1400" err="1"/>
                        <a:t>value</a:t>
                      </a:r>
                      <a:r>
                        <a:rPr lang="af-ZA" sz="1400"/>
                        <a:t>. </a:t>
                      </a:r>
                      <a:r>
                        <a:rPr lang="ko-KR" altLang="en-US" sz="1400"/>
                        <a:t>로컬 장단점을 빠르게 학습하도록 돕는 </a:t>
                      </a:r>
                      <a:r>
                        <a:rPr lang="af-ZA" sz="1400" err="1"/>
                        <a:t>shaping</a:t>
                      </a:r>
                      <a:r>
                        <a:rPr lang="af-ZA" sz="1400"/>
                        <a:t> </a:t>
                      </a:r>
                      <a:r>
                        <a:rPr lang="ko-KR" altLang="en-US" sz="1400"/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922414"/>
                  </a:ext>
                </a:extLst>
              </a:tr>
              <a:tr h="2583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400" err="1"/>
                        <a:t>opp_best_delta</a:t>
                      </a:r>
                      <a:r>
                        <a:rPr lang="af-ZA" sz="1400"/>
                        <a:t> / SCORE_SCALE (</a:t>
                      </a:r>
                      <a:r>
                        <a:rPr lang="af-ZA" sz="1400" err="1"/>
                        <a:t>clip</a:t>
                      </a:r>
                      <a:r>
                        <a:rPr lang="af-ZA" sz="1400"/>
                        <a:t>[-1,1])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“상대가 이 칸에 둘 수 있는 모든 타일 중 가장 위험한 타일을 뒀을 때의 점수 변화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내 입장에서는 손해가 큰 값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상대가 이 칸을 차지했을 때 얼마나 위험한지를 표현</a:t>
                      </a:r>
                      <a:r>
                        <a:rPr lang="en-US" altLang="ko-KR" sz="1400"/>
                        <a:t>. </a:t>
                      </a:r>
                      <a:r>
                        <a:rPr lang="ko-KR" altLang="en-US" sz="1400"/>
                        <a:t>지금 막지 않으면 나중에 크게 손해 보는 자리를 인식하게 해서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수비</a:t>
                      </a:r>
                      <a:r>
                        <a:rPr lang="en-US" altLang="ko-KR" sz="1400"/>
                        <a:t>/</a:t>
                      </a:r>
                      <a:r>
                        <a:rPr lang="ko-KR" altLang="en-US" sz="1400"/>
                        <a:t>견제 수를 학습하도록 하기 위함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856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B679-66CA-10FE-A7F4-3D4D38AC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6E44A-F700-919B-05CE-2C399591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환경 및 데이터셋 정의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8D9AD-5868-D549-F9C7-1E6E6D885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err="1">
                <a:ea typeface="맑은 고딕"/>
              </a:rPr>
              <a:t>추가</a:t>
            </a:r>
            <a:r>
              <a:rPr lang="en-US" altLang="ko-KR" b="1">
                <a:ea typeface="맑은 고딕"/>
              </a:rPr>
              <a:t> </a:t>
            </a:r>
            <a:r>
              <a:rPr lang="en-US" altLang="ko-KR" b="1" err="1">
                <a:ea typeface="맑은 고딕"/>
              </a:rPr>
              <a:t>환경</a:t>
            </a:r>
            <a:r>
              <a:rPr lang="en-US" altLang="ko-KR" b="1">
                <a:ea typeface="맑은 고딕"/>
              </a:rPr>
              <a:t> </a:t>
            </a:r>
            <a:r>
              <a:rPr lang="en-US" altLang="ko-KR" b="1" err="1">
                <a:ea typeface="맑은 고딕"/>
              </a:rPr>
              <a:t>세팅</a:t>
            </a:r>
            <a:endParaRPr lang="en-US" altLang="ko-KR" b="1">
              <a:ea typeface="맑은 고딕"/>
            </a:endParaRPr>
          </a:p>
          <a:p>
            <a:r>
              <a:rPr lang="en-US" altLang="ko-KR" sz="2000" err="1">
                <a:latin typeface="맑은 고딕"/>
                <a:ea typeface="맑은 고딕"/>
              </a:rPr>
              <a:t>손패</a:t>
            </a:r>
            <a:r>
              <a:rPr lang="en-US" altLang="ko-KR" sz="2000">
                <a:latin typeface="맑은 고딕"/>
                <a:ea typeface="맑은 고딕"/>
              </a:rPr>
              <a:t> 및 </a:t>
            </a:r>
            <a:r>
              <a:rPr lang="en-US" altLang="ko-KR" sz="2000" err="1">
                <a:latin typeface="맑은 고딕"/>
                <a:ea typeface="맑은 고딕"/>
              </a:rPr>
              <a:t>남은</a:t>
            </a:r>
            <a:r>
              <a:rPr lang="en-US" altLang="ko-KR" sz="2000">
                <a:latin typeface="맑은 고딕"/>
                <a:ea typeface="맑은 고딕"/>
              </a:rPr>
              <a:t> </a:t>
            </a:r>
            <a:r>
              <a:rPr lang="en-US" altLang="ko-KR" sz="2000" err="1">
                <a:latin typeface="맑은 고딕"/>
                <a:ea typeface="맑은 고딕"/>
              </a:rPr>
              <a:t>타일</a:t>
            </a:r>
            <a:r>
              <a:rPr lang="en-US" altLang="ko-KR" sz="2000">
                <a:latin typeface="맑은 고딕"/>
                <a:ea typeface="맑은 고딕"/>
              </a:rPr>
              <a:t> </a:t>
            </a:r>
            <a:r>
              <a:rPr lang="en-US" altLang="ko-KR" sz="2000" err="1">
                <a:latin typeface="맑은 고딕"/>
                <a:ea typeface="맑은 고딕"/>
              </a:rPr>
              <a:t>feature도</a:t>
            </a:r>
            <a:r>
              <a:rPr lang="en-US" altLang="ko-KR" sz="2000">
                <a:latin typeface="맑은 고딕"/>
                <a:ea typeface="맑은 고딕"/>
              </a:rPr>
              <a:t> </a:t>
            </a:r>
            <a:r>
              <a:rPr lang="en-US" altLang="ko-KR" sz="2000" err="1">
                <a:latin typeface="맑은 고딕"/>
                <a:ea typeface="맑은 고딕"/>
              </a:rPr>
              <a:t>추가하여</a:t>
            </a:r>
            <a:r>
              <a:rPr lang="en-US" altLang="ko-KR" sz="2000">
                <a:latin typeface="맑은 고딕"/>
                <a:ea typeface="맑은 고딕"/>
              </a:rPr>
              <a:t> </a:t>
            </a:r>
            <a:r>
              <a:rPr lang="en-US" altLang="ko-KR" sz="2000" err="1">
                <a:latin typeface="맑은 고딕"/>
                <a:ea typeface="맑은 고딕"/>
              </a:rPr>
              <a:t>작업</a:t>
            </a:r>
            <a:endParaRPr lang="en-US" altLang="ko-KR" sz="2000">
              <a:latin typeface="맑은 고딕"/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err="1">
                <a:ea typeface="+mn-lt"/>
                <a:cs typeface="+mn-lt"/>
              </a:rPr>
              <a:t>에이전트는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실제로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무엇을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들고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있는지</a:t>
            </a:r>
            <a:r>
              <a:rPr lang="en-US" sz="1600" err="1">
                <a:ea typeface="+mn-lt"/>
                <a:cs typeface="+mn-lt"/>
              </a:rPr>
              <a:t>에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따라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선택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가능한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전략이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달라짐</a:t>
            </a:r>
            <a:endParaRPr lang="en-US" sz="16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sz="1600">
                <a:ea typeface="+mn-lt"/>
                <a:cs typeface="+mn-lt"/>
              </a:rPr>
              <a:t>“</a:t>
            </a:r>
            <a:r>
              <a:rPr lang="ko-KR" altLang="en-US" sz="1600">
                <a:ea typeface="+mn-lt"/>
                <a:cs typeface="+mn-lt"/>
              </a:rPr>
              <a:t>상대가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다음에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어떤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색</a:t>
            </a:r>
            <a:r>
              <a:rPr lang="en-US" sz="1600">
                <a:ea typeface="+mn-lt"/>
                <a:cs typeface="+mn-lt"/>
              </a:rPr>
              <a:t>/</a:t>
            </a:r>
            <a:r>
              <a:rPr lang="ko-KR" altLang="en-US" sz="1600">
                <a:ea typeface="+mn-lt"/>
                <a:cs typeface="+mn-lt"/>
              </a:rPr>
              <a:t>문양으로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역습할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수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있는지</a:t>
            </a:r>
            <a:r>
              <a:rPr lang="en-US" altLang="ko-KR" sz="1600">
                <a:ea typeface="+mn-lt"/>
                <a:cs typeface="+mn-lt"/>
              </a:rPr>
              <a:t>”</a:t>
            </a:r>
            <a:r>
              <a:rPr lang="ko-KR" altLang="en-US" sz="1600">
                <a:ea typeface="+mn-lt"/>
                <a:cs typeface="+mn-lt"/>
              </a:rPr>
              <a:t>까지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고려하는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플레이를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학습</a:t>
            </a:r>
            <a:endParaRPr lang="ko-KR" altLang="en-US" sz="1600">
              <a:ea typeface="맑은 고딕"/>
            </a:endParaRPr>
          </a:p>
          <a:p>
            <a:endParaRPr lang="ko-KR" altLang="en-US" sz="2000">
              <a:latin typeface="Malgun Gothic"/>
              <a:ea typeface="Malgun Gothic"/>
            </a:endParaRPr>
          </a:p>
          <a:p>
            <a:r>
              <a:rPr lang="ko-KR" altLang="en-US" sz="2000">
                <a:latin typeface="Malgun Gothic"/>
                <a:ea typeface="Malgun Gothic"/>
              </a:rPr>
              <a:t>진행도 </a:t>
            </a:r>
            <a:r>
              <a:rPr lang="ko-KR" altLang="en-US" sz="2000" err="1">
                <a:latin typeface="Malgun Gothic"/>
                <a:ea typeface="Malgun Gothic"/>
              </a:rPr>
              <a:t>feature도</a:t>
            </a:r>
            <a:r>
              <a:rPr lang="ko-KR" altLang="en-US" sz="2000">
                <a:latin typeface="Malgun Gothic"/>
                <a:ea typeface="Malgun Gothic"/>
              </a:rPr>
              <a:t> 추가하여 작업</a:t>
            </a:r>
            <a:endParaRPr lang="en-US" sz="2000">
              <a:latin typeface="Malgun Gothic"/>
              <a:ea typeface="Malgun Gothic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ko-KR" altLang="en-US" sz="1600">
                <a:ea typeface="+mn-lt"/>
                <a:cs typeface="+mn-lt"/>
              </a:rPr>
              <a:t>현재까지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보드에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놓인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타일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수를 추가하여 </a:t>
            </a:r>
            <a:r>
              <a:rPr lang="ko-KR" sz="1600">
                <a:ea typeface="+mn-lt"/>
                <a:cs typeface="+mn-lt"/>
              </a:rPr>
              <a:t>게임이 초반/중반/후반 </a:t>
            </a:r>
            <a:r>
              <a:rPr lang="ko-KR" sz="1600" err="1">
                <a:ea typeface="+mn-lt"/>
                <a:cs typeface="+mn-lt"/>
              </a:rPr>
              <a:t>어디쯤인지</a:t>
            </a:r>
            <a:r>
              <a:rPr lang="ko-KR" sz="1600">
                <a:ea typeface="+mn-lt"/>
                <a:cs typeface="+mn-lt"/>
              </a:rPr>
              <a:t> 나타내는 진행도 추가</a:t>
            </a:r>
            <a:endParaRPr lang="ko-KR" altLang="en-US" sz="1600">
              <a:latin typeface="맑은 고딕"/>
              <a:ea typeface="맑은 고딕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altLang="ko-KR" sz="1600" err="1">
                <a:latin typeface="Malgun Gothic"/>
                <a:ea typeface="Malgun Gothic"/>
              </a:rPr>
              <a:t>진행도에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따라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장기적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이득</a:t>
            </a:r>
            <a:r>
              <a:rPr lang="en-US" altLang="ko-KR" sz="1600">
                <a:latin typeface="Malgun Gothic"/>
                <a:ea typeface="Malgun Gothic"/>
              </a:rPr>
              <a:t> / </a:t>
            </a:r>
            <a:r>
              <a:rPr lang="en-US" altLang="ko-KR" sz="1600" err="1">
                <a:latin typeface="Malgun Gothic"/>
                <a:ea typeface="Malgun Gothic"/>
              </a:rPr>
              <a:t>단기적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이득을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중요하시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하는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전략을</a:t>
            </a:r>
            <a:r>
              <a:rPr lang="en-US" altLang="ko-KR" sz="1600">
                <a:latin typeface="Malgun Gothic"/>
                <a:ea typeface="Malgun Gothic"/>
              </a:rPr>
              <a:t> </a:t>
            </a:r>
            <a:r>
              <a:rPr lang="en-US" altLang="ko-KR" sz="1600" err="1">
                <a:latin typeface="Malgun Gothic"/>
                <a:ea typeface="Malgun Gothic"/>
              </a:rPr>
              <a:t>학습</a:t>
            </a:r>
            <a:endParaRPr lang="en-US" altLang="ko-KR" sz="1600">
              <a:latin typeface="Malgun Gothic"/>
              <a:ea typeface="Malgun Gothic"/>
            </a:endParaRPr>
          </a:p>
          <a:p>
            <a:pPr marL="0" indent="0">
              <a:buNone/>
            </a:pPr>
            <a:endParaRPr lang="en-US" altLang="ko-KR" b="1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sz="1600">
              <a:ea typeface="맑은 고딕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US" altLang="ko-KR" sz="1200">
              <a:ea typeface="맑은 고딕"/>
            </a:endParaRPr>
          </a:p>
          <a:p>
            <a:endParaRPr lang="en-US" altLang="ko-KR" sz="2000">
              <a:ea typeface="맑은 고딕"/>
            </a:endParaRPr>
          </a:p>
          <a:p>
            <a:endParaRPr lang="en-US" altLang="ko-KR">
              <a:ea typeface="맑은 고딕"/>
            </a:endParaRPr>
          </a:p>
          <a:p>
            <a:endParaRPr lang="en-US" altLang="ko-KR">
              <a:ea typeface="맑은 고딕"/>
            </a:endParaRPr>
          </a:p>
          <a:p>
            <a:endParaRPr lang="en-US" altLang="ko-KR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4654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88C72-4DA3-6918-DC06-6B39A140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PPO 알고리즘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7CC6F-FCED-294E-46A6-7F84CE80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984"/>
            <a:ext cx="10141789" cy="44519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000" err="1">
                <a:ea typeface="맑은 고딕"/>
              </a:rPr>
              <a:t>Connexion</a:t>
            </a:r>
            <a:r>
              <a:rPr lang="ko-KR" altLang="en-US" sz="2000">
                <a:ea typeface="맑은 고딕"/>
              </a:rPr>
              <a:t> 프로젝트에서 PPO 알고리즘을 선택하였다.</a:t>
            </a:r>
          </a:p>
          <a:p>
            <a:endParaRPr lang="ko-KR" altLang="en-US" sz="2000">
              <a:ea typeface="맑은 고딕"/>
            </a:endParaRPr>
          </a:p>
          <a:p>
            <a:pPr marL="800100" lvl="1" indent="-342900">
              <a:buAutoNum type="arabicPeriod"/>
            </a:pPr>
            <a:r>
              <a:rPr lang="ko-KR" altLang="en-US" sz="1600" err="1">
                <a:ea typeface="맑은 고딕"/>
              </a:rPr>
              <a:t>Policy</a:t>
            </a:r>
            <a:r>
              <a:rPr lang="ko-KR" altLang="en-US" sz="1600">
                <a:ea typeface="맑은 고딕"/>
              </a:rPr>
              <a:t> </a:t>
            </a:r>
            <a:r>
              <a:rPr lang="ko-KR" altLang="en-US" sz="1600" err="1">
                <a:ea typeface="맑은 고딕"/>
              </a:rPr>
              <a:t>gradient</a:t>
            </a:r>
            <a:r>
              <a:rPr lang="ko-KR" altLang="en-US" sz="1600">
                <a:ea typeface="맑은 고딕"/>
              </a:rPr>
              <a:t> 계열은 </a:t>
            </a:r>
            <a:r>
              <a:rPr lang="ko-KR" altLang="en-US" sz="1600" err="1">
                <a:ea typeface="맑은 고딕"/>
              </a:rPr>
              <a:t>stochastic</a:t>
            </a:r>
            <a:r>
              <a:rPr lang="ko-KR" altLang="en-US" sz="160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policy를</a:t>
            </a:r>
            <a:r>
              <a:rPr lang="ko-KR" altLang="en-US" sz="1600">
                <a:ea typeface="맑은 고딕"/>
              </a:rPr>
              <a:t> 따르기 때문에 </a:t>
            </a:r>
            <a:r>
              <a:rPr lang="ko-KR" altLang="en-US" sz="1600" err="1">
                <a:ea typeface="맑은 고딕"/>
              </a:rPr>
              <a:t>exploration을</a:t>
            </a:r>
            <a:r>
              <a:rPr lang="ko-KR" altLang="en-US" sz="1600">
                <a:ea typeface="맑은 고딕"/>
              </a:rPr>
              <a:t> 자연스럽게 수행하여 변칙적인 수에 대한 학습하기에 용이하다.</a:t>
            </a:r>
          </a:p>
          <a:p>
            <a:pPr marL="800100" lvl="1" indent="-342900">
              <a:buAutoNum type="arabicPeriod"/>
            </a:pPr>
            <a:endParaRPr lang="ko-KR" altLang="en-US" sz="1600">
              <a:ea typeface="맑은 고딕"/>
            </a:endParaRPr>
          </a:p>
          <a:p>
            <a:pPr marL="800100" lvl="1" indent="-342900">
              <a:buAutoNum type="arabicPeriod"/>
            </a:pPr>
            <a:r>
              <a:rPr lang="ko-KR" altLang="en-US" sz="1600" err="1">
                <a:ea typeface="맑은 고딕"/>
              </a:rPr>
              <a:t>Self-Play</a:t>
            </a:r>
            <a:r>
              <a:rPr lang="ko-KR" altLang="en-US" sz="1600">
                <a:ea typeface="맑은 고딕"/>
              </a:rPr>
              <a:t> 방식 호환 : </a:t>
            </a:r>
            <a:r>
              <a:rPr lang="ko-KR" altLang="en-US" sz="1600" err="1">
                <a:ea typeface="맑은 고딕"/>
              </a:rPr>
              <a:t>PPO는</a:t>
            </a:r>
            <a:r>
              <a:rPr lang="ko-KR" altLang="en-US" sz="160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On-Plicy</a:t>
            </a:r>
            <a:r>
              <a:rPr lang="ko-KR" altLang="en-US" sz="1600">
                <a:ea typeface="맑은 고딕"/>
              </a:rPr>
              <a:t> 알고리즘이기 때문에 플레이한 데이터를 가지고 학습한다. 초반에는 </a:t>
            </a:r>
            <a:r>
              <a:rPr lang="ko-KR" altLang="en-US" sz="1600" err="1">
                <a:ea typeface="맑은 고딕"/>
              </a:rPr>
              <a:t>random</a:t>
            </a:r>
            <a:r>
              <a:rPr lang="ko-KR" altLang="en-US" sz="1600">
                <a:ea typeface="맑은 고딕"/>
              </a:rPr>
              <a:t>, 중간에는 </a:t>
            </a:r>
            <a:r>
              <a:rPr lang="ko-KR" altLang="en-US" sz="1600" err="1">
                <a:ea typeface="맑은 고딕"/>
              </a:rPr>
              <a:t>sample</a:t>
            </a:r>
            <a:r>
              <a:rPr lang="ko-KR" altLang="en-US" sz="1600">
                <a:ea typeface="맑은 고딕"/>
              </a:rPr>
              <a:t>, 이후에는  </a:t>
            </a:r>
            <a:r>
              <a:rPr lang="ko-KR" altLang="en-US" sz="1600" err="1">
                <a:ea typeface="맑은 고딕"/>
              </a:rPr>
              <a:t>heuristic</a:t>
            </a:r>
            <a:r>
              <a:rPr lang="ko-KR" altLang="en-US" sz="160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bot</a:t>
            </a:r>
            <a:r>
              <a:rPr lang="ko-KR" altLang="en-US" sz="1600">
                <a:ea typeface="맑은 고딕"/>
              </a:rPr>
              <a:t> &amp; </a:t>
            </a:r>
            <a:r>
              <a:rPr lang="ko-KR" altLang="en-US" sz="1600" err="1">
                <a:ea typeface="맑은 고딕"/>
              </a:rPr>
              <a:t>self-play</a:t>
            </a:r>
            <a:r>
              <a:rPr lang="ko-KR" altLang="en-US" sz="1600">
                <a:ea typeface="맑은 고딕"/>
              </a:rPr>
              <a:t> 봇과 학습을 진행하기 때문에 상대가 계속 변하는 환경에서 안정적으로 학습할 수 있다.</a:t>
            </a:r>
          </a:p>
          <a:p>
            <a:pPr marL="800100" lvl="1" indent="-342900">
              <a:buAutoNum type="arabicPeriod"/>
            </a:pPr>
            <a:endParaRPr lang="ko-KR" altLang="en-US" sz="1600">
              <a:ea typeface="맑은 고딕"/>
            </a:endParaRPr>
          </a:p>
          <a:p>
            <a:pPr marL="800100" lvl="1" indent="-342900">
              <a:buAutoNum type="arabicPeriod"/>
            </a:pPr>
            <a:r>
              <a:rPr lang="ko-KR" altLang="en-US" sz="1600" err="1">
                <a:ea typeface="맑은 고딕"/>
              </a:rPr>
              <a:t>Clipped</a:t>
            </a:r>
            <a:r>
              <a:rPr lang="ko-KR" altLang="en-US" sz="1600">
                <a:ea typeface="맑은 고딕"/>
              </a:rPr>
              <a:t> </a:t>
            </a:r>
            <a:r>
              <a:rPr lang="ko-KR" altLang="en-US" sz="1600" err="1">
                <a:ea typeface="맑은 고딕"/>
              </a:rPr>
              <a:t>Objective를</a:t>
            </a:r>
            <a:r>
              <a:rPr lang="ko-KR" altLang="en-US" sz="1600">
                <a:ea typeface="맑은 고딕"/>
              </a:rPr>
              <a:t> 통한 안정적인 업데이트로 정책이 한 번에 급격하게 바뀌지 않게 만들어 준다. 장시간 학습이 필요한 본 프로젝트에서 학습이 발산하지 않고 꾸준히 </a:t>
            </a:r>
            <a:r>
              <a:rPr lang="ko-KR" altLang="en-US" sz="1600" err="1">
                <a:ea typeface="맑은 고딕"/>
              </a:rPr>
              <a:t>우상향</a:t>
            </a:r>
            <a:r>
              <a:rPr lang="ko-KR" altLang="en-US" sz="1600">
                <a:ea typeface="맑은 고딕"/>
              </a:rPr>
              <a:t> 하도록 유도할 수 있다.</a:t>
            </a:r>
          </a:p>
          <a:p>
            <a:pPr marL="800100" lvl="1" indent="-342900">
              <a:buAutoNum type="arabicPeriod"/>
            </a:pPr>
            <a:endParaRPr lang="ko-KR" altLang="en-US" sz="16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94653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4BF7B88A-63D0-4DCB-B8E8-519A15C7E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97B28E-A3A9-12A7-CD4B-50D47314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35" y="222264"/>
            <a:ext cx="4916544" cy="2883403"/>
          </a:xfrm>
        </p:spPr>
        <p:txBody>
          <a:bodyPr anchor="ctr">
            <a:normAutofit/>
          </a:bodyPr>
          <a:lstStyle/>
          <a:p>
            <a:r>
              <a:rPr lang="ko-KR" altLang="en-US" sz="4800" err="1">
                <a:solidFill>
                  <a:schemeClr val="tx2"/>
                </a:solidFill>
                <a:ea typeface="맑은 고딕"/>
              </a:rPr>
              <a:t>Hyperparameter</a:t>
            </a:r>
            <a:r>
              <a:rPr lang="ko-KR" altLang="en-US" sz="4800">
                <a:solidFill>
                  <a:schemeClr val="tx2"/>
                </a:solidFill>
                <a:ea typeface="맑은 고딕"/>
              </a:rPr>
              <a:t> </a:t>
            </a:r>
          </a:p>
        </p:txBody>
      </p: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DED30818-B638-4525-8D35-242C01B4C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475CF7-9682-F195-3A66-116380E34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925" y="520492"/>
            <a:ext cx="6102454" cy="564318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Discount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&amp;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Advantage</a:t>
            </a: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GAMMA :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return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/ TD-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error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계산에 직접 사용</a:t>
            </a: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LAMBDA :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GAE를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통한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advangae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추정할 때 포함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Clipping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Optimization</a:t>
            </a: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CLIP_EPS : PPO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clip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epsilon</a:t>
            </a: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LR :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Adam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Learning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rate</a:t>
            </a: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EPOCHS : 같은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rollout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데이터를 몇 번 반복하여 학습하는 지</a:t>
            </a: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MINIBATCH_SIZE : PPO 업데이트의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mini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batch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크기</a:t>
            </a: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MAX_GRAD_NORM :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clip_grad_norm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_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에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포함되는 값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Loss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weight</a:t>
            </a:r>
            <a:endParaRPr lang="ko-KR" altLang="en-US" sz="1500">
              <a:solidFill>
                <a:schemeClr val="tx2"/>
              </a:solidFill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ENF_COEF :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entropy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term에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곱해지는 계수</a:t>
            </a:r>
          </a:p>
          <a:p>
            <a:pPr lvl="1">
              <a:lnSpc>
                <a:spcPct val="150000"/>
              </a:lnSpc>
            </a:pPr>
            <a:r>
              <a:rPr lang="ko-KR" altLang="en-US" sz="1500">
                <a:solidFill>
                  <a:schemeClr val="tx2"/>
                </a:solidFill>
                <a:ea typeface="맑은 고딕"/>
              </a:rPr>
              <a:t>VF_COEF :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value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</a:t>
            </a:r>
            <a:r>
              <a:rPr lang="ko-KR" altLang="en-US" sz="1500" err="1">
                <a:solidFill>
                  <a:schemeClr val="tx2"/>
                </a:solidFill>
                <a:ea typeface="맑은 고딕"/>
              </a:rPr>
              <a:t>Function</a:t>
            </a:r>
            <a:r>
              <a:rPr lang="ko-KR" altLang="en-US" sz="1500">
                <a:solidFill>
                  <a:schemeClr val="tx2"/>
                </a:solidFill>
                <a:ea typeface="맑은 고딕"/>
              </a:rPr>
              <a:t> 학습 중요도</a:t>
            </a:r>
          </a:p>
        </p:txBody>
      </p:sp>
      <p:cxnSp>
        <p:nvCxnSpPr>
          <p:cNvPr id="9" name="Straight Connector 11">
            <a:extLst>
              <a:ext uri="{FF2B5EF4-FFF2-40B4-BE49-F238E27FC236}">
                <a16:creationId xmlns:a16="http://schemas.microsoft.com/office/drawing/2014/main" id="{1DF07162-510C-43F7-ADCC-4EAD5DE6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3">
            <a:extLst>
              <a:ext uri="{FF2B5EF4-FFF2-40B4-BE49-F238E27FC236}">
                <a16:creationId xmlns:a16="http://schemas.microsoft.com/office/drawing/2014/main" id="{A21C871B-0AC3-4789-86F5-7739DD582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42E9232-2FD4-44F8-8610-6776F8FEE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5">
              <a:extLst>
                <a:ext uri="{FF2B5EF4-FFF2-40B4-BE49-F238E27FC236}">
                  <a16:creationId xmlns:a16="http://schemas.microsoft.com/office/drawing/2014/main" id="{277B59B2-2AA8-4043-8EFB-9C256AD0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26A974-E35F-A6A5-6E24-38F17DAAE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0" y="3131764"/>
            <a:ext cx="2819960" cy="341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7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9257-6F36-E7C4-3DDC-E7974A11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D0ED2-40FB-A73C-3E5F-179DF9B0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ea typeface="맑은 고딕"/>
              </a:rPr>
              <a:t>Action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space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8664A-AE34-5DCC-6D97-6981A0C7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800">
                <a:latin typeface="Malgun Gothic"/>
                <a:ea typeface="Malgun Gothic"/>
              </a:rPr>
              <a:t>에이전트의 행동은 </a:t>
            </a:r>
            <a:r>
              <a:rPr lang="ko-KR" altLang="en-US" sz="1800" err="1">
                <a:latin typeface="Malgun Gothic"/>
                <a:ea typeface="Malgun Gothic"/>
              </a:rPr>
              <a:t>discrete</a:t>
            </a:r>
            <a:r>
              <a:rPr lang="ko-KR" altLang="en-US" sz="1800">
                <a:latin typeface="Malgun Gothic"/>
                <a:ea typeface="Malgun Gothic"/>
              </a:rPr>
              <a:t> </a:t>
            </a:r>
            <a:r>
              <a:rPr lang="ko-KR" altLang="en-US" sz="1800" err="1">
                <a:latin typeface="Malgun Gothic"/>
                <a:ea typeface="Malgun Gothic"/>
              </a:rPr>
              <a:t>space로</a:t>
            </a:r>
            <a:r>
              <a:rPr lang="ko-KR" altLang="en-US" sz="1800">
                <a:latin typeface="Malgun Gothic"/>
                <a:ea typeface="Malgun Gothic"/>
              </a:rPr>
              <a:t>, 크기는 320이다.</a:t>
            </a:r>
          </a:p>
          <a:p>
            <a:r>
              <a:rPr lang="ko-KR" altLang="en-US" sz="1800" err="1">
                <a:latin typeface="Malgun Gothic"/>
                <a:ea typeface="Malgun Gothic"/>
                <a:cs typeface="+mn-lt"/>
              </a:rPr>
              <a:t>손패</a:t>
            </a:r>
            <a:r>
              <a:rPr lang="ko-KR" altLang="en-US" sz="1800">
                <a:latin typeface="Malgun Gothic"/>
                <a:ea typeface="Malgun Gothic"/>
                <a:cs typeface="+mn-lt"/>
              </a:rPr>
              <a:t> 슬롯 인덱스 </a:t>
            </a:r>
            <a:r>
              <a:rPr lang="en-US" altLang="en-US" sz="1800">
                <a:latin typeface="Malgun Gothic"/>
                <a:ea typeface="+mn-lt"/>
                <a:cs typeface="+mn-lt"/>
              </a:rPr>
              <a:t>:</a:t>
            </a:r>
            <a:r>
              <a:rPr lang="ko-KR" altLang="en-US" sz="1800">
                <a:latin typeface="Malgun Gothic"/>
                <a:ea typeface="Malgun Gothic"/>
                <a:cs typeface="+mn-lt"/>
              </a:rPr>
              <a:t> </a:t>
            </a:r>
            <a:r>
              <a:rPr lang="ko-KR" sz="1800" err="1">
                <a:latin typeface="Malgun Gothic"/>
                <a:ea typeface="Malgun Gothic"/>
                <a:cs typeface="+mn-lt"/>
              </a:rPr>
              <a:t>slot</a:t>
            </a:r>
            <a:r>
              <a:rPr lang="ko-KR" sz="1800">
                <a:latin typeface="Malgun Gothic"/>
                <a:ea typeface="Malgun Gothic"/>
                <a:cs typeface="+mn-lt"/>
              </a:rPr>
              <a:t> ∈ {0, …, 4}</a:t>
            </a:r>
          </a:p>
          <a:p>
            <a:r>
              <a:rPr lang="en-US" altLang="ko-KR" sz="1800" err="1">
                <a:latin typeface="Malgun Gothic"/>
                <a:ea typeface="+mn-lt"/>
                <a:cs typeface="+mn-lt"/>
              </a:rPr>
              <a:t>보드</a:t>
            </a:r>
            <a:r>
              <a:rPr lang="en-US" altLang="ko-KR" sz="1800">
                <a:latin typeface="Malgun Gothic"/>
                <a:ea typeface="+mn-lt"/>
                <a:cs typeface="+mn-lt"/>
              </a:rPr>
              <a:t> 칸 index : </a:t>
            </a:r>
            <a:r>
              <a:rPr lang="en-US" sz="1800" err="1">
                <a:latin typeface="Malgun Gothic"/>
                <a:ea typeface="+mn-lt"/>
                <a:cs typeface="+mn-lt"/>
              </a:rPr>
              <a:t>cell_idx</a:t>
            </a:r>
            <a:r>
              <a:rPr lang="en-US" sz="1800">
                <a:latin typeface="Malgun Gothic"/>
                <a:ea typeface="+mn-lt"/>
                <a:cs typeface="+mn-lt"/>
              </a:rPr>
              <a:t> ∈ {0, …, 63}</a:t>
            </a:r>
          </a:p>
          <a:p>
            <a:endParaRPr lang="en-US" sz="2000">
              <a:latin typeface="Malgun Gothic"/>
              <a:ea typeface="+mn-lt"/>
              <a:cs typeface="+mn-lt"/>
            </a:endParaRPr>
          </a:p>
          <a:p>
            <a:endParaRPr lang="en-US" altLang="ko-KR" sz="2000">
              <a:latin typeface="Malgun Gothic"/>
              <a:ea typeface="+mn-lt"/>
              <a:cs typeface="+mn-lt"/>
            </a:endParaRPr>
          </a:p>
          <a:p>
            <a:endParaRPr lang="ko-KR" altLang="en-US" sz="2000">
              <a:latin typeface="Malgun Gothic"/>
              <a:ea typeface="맑은 고딕"/>
            </a:endParaRPr>
          </a:p>
          <a:p>
            <a:pPr lvl="1"/>
            <a:endParaRPr lang="ko-KR" altLang="en-US" sz="1600">
              <a:latin typeface="Malgun Gothic"/>
              <a:ea typeface="+mn-lt"/>
              <a:cs typeface="+mn-lt"/>
            </a:endParaRPr>
          </a:p>
          <a:p>
            <a:endParaRPr lang="en-US" altLang="ko-KR" sz="2000">
              <a:latin typeface="Consolas"/>
              <a:ea typeface="맑은 고딕" panose="020F0502020204030204"/>
            </a:endParaRPr>
          </a:p>
          <a:p>
            <a:endParaRPr lang="en-US" sz="2000">
              <a:latin typeface="Consolas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4075E0-92C5-D863-2574-966600719FFB}"/>
              </a:ext>
            </a:extLst>
          </p:cNvPr>
          <p:cNvSpPr txBox="1"/>
          <p:nvPr/>
        </p:nvSpPr>
        <p:spPr>
          <a:xfrm>
            <a:off x="1394604" y="3615905"/>
            <a:ext cx="9144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err="1"/>
              <a:t>게임</a:t>
            </a:r>
            <a:r>
              <a:rPr lang="en-US"/>
              <a:t> </a:t>
            </a:r>
            <a:r>
              <a:rPr lang="en-US" err="1"/>
              <a:t>규칙상</a:t>
            </a:r>
            <a:r>
              <a:rPr lang="en-US"/>
              <a:t> (1) </a:t>
            </a:r>
            <a:r>
              <a:rPr lang="en-US" err="1"/>
              <a:t>현재</a:t>
            </a:r>
            <a:r>
              <a:rPr lang="en-US"/>
              <a:t> </a:t>
            </a:r>
            <a:r>
              <a:rPr lang="en-US" err="1"/>
              <a:t>손패</a:t>
            </a:r>
            <a:r>
              <a:rPr lang="en-US"/>
              <a:t> </a:t>
            </a:r>
            <a:r>
              <a:rPr lang="en-US" err="1"/>
              <a:t>길이보다</a:t>
            </a:r>
            <a:r>
              <a:rPr lang="en-US"/>
              <a:t> 큰 </a:t>
            </a:r>
            <a:r>
              <a:rPr lang="en-US" err="1"/>
              <a:t>슬롯</a:t>
            </a:r>
            <a:r>
              <a:rPr lang="en-US"/>
              <a:t> </a:t>
            </a:r>
            <a:r>
              <a:rPr lang="en-US" err="1"/>
              <a:t>인덱스를</a:t>
            </a:r>
            <a:r>
              <a:rPr lang="en-US"/>
              <a:t> </a:t>
            </a:r>
            <a:r>
              <a:rPr lang="en-US" err="1"/>
              <a:t>선택하거나</a:t>
            </a:r>
            <a:r>
              <a:rPr lang="en-US"/>
              <a:t>, (2) </a:t>
            </a:r>
            <a:r>
              <a:rPr lang="en-US" err="1"/>
              <a:t>이미</a:t>
            </a:r>
            <a:r>
              <a:rPr lang="en-US"/>
              <a:t> </a:t>
            </a:r>
            <a:r>
              <a:rPr lang="en-US" err="1"/>
              <a:t>타일이</a:t>
            </a:r>
            <a:r>
              <a:rPr lang="en-US"/>
              <a:t> </a:t>
            </a:r>
            <a:r>
              <a:rPr lang="en-US" err="1"/>
              <a:t>놓인</a:t>
            </a:r>
            <a:r>
              <a:rPr lang="en-US"/>
              <a:t> </a:t>
            </a:r>
            <a:r>
              <a:rPr lang="en-US" err="1"/>
              <a:t>칸을</a:t>
            </a:r>
            <a:r>
              <a:rPr lang="en-US"/>
              <a:t> </a:t>
            </a:r>
            <a:r>
              <a:rPr lang="en-US" err="1"/>
              <a:t>선택하는</a:t>
            </a:r>
            <a:r>
              <a:rPr lang="en-US"/>
              <a:t> </a:t>
            </a:r>
            <a:r>
              <a:rPr lang="en-US" err="1"/>
              <a:t>행동은</a:t>
            </a:r>
            <a:r>
              <a:rPr lang="en-US"/>
              <a:t> </a:t>
            </a:r>
            <a:r>
              <a:rPr lang="en-US" err="1"/>
              <a:t>불가능하다</a:t>
            </a:r>
            <a:r>
              <a:rPr lang="en-US"/>
              <a:t>.</a:t>
            </a:r>
            <a:endParaRPr lang="en-US" altLang="ko-KR"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/>
              <a:t>  </a:t>
            </a:r>
            <a:r>
              <a:rPr lang="en-US" err="1"/>
              <a:t>이러한</a:t>
            </a:r>
            <a:r>
              <a:rPr lang="en-US"/>
              <a:t> </a:t>
            </a:r>
            <a:r>
              <a:rPr lang="en-US" err="1"/>
              <a:t>규칙</a:t>
            </a:r>
            <a:r>
              <a:rPr lang="en-US"/>
              <a:t> </a:t>
            </a:r>
            <a:r>
              <a:rPr lang="en-US" err="1"/>
              <a:t>위반</a:t>
            </a:r>
            <a:r>
              <a:rPr lang="en-US"/>
              <a:t> </a:t>
            </a:r>
            <a:r>
              <a:rPr lang="en-US" err="1"/>
              <a:t>행동은</a:t>
            </a:r>
            <a:r>
              <a:rPr lang="en-US"/>
              <a:t> </a:t>
            </a:r>
            <a:r>
              <a:rPr lang="en-US" err="1"/>
              <a:t>유효한</a:t>
            </a:r>
            <a:r>
              <a:rPr lang="en-US"/>
              <a:t> </a:t>
            </a:r>
            <a:r>
              <a:rPr lang="en-US" err="1"/>
              <a:t>행동</a:t>
            </a:r>
            <a:r>
              <a:rPr lang="en-US"/>
              <a:t> </a:t>
            </a:r>
            <a:r>
              <a:rPr lang="en-US" err="1"/>
              <a:t>집합에</a:t>
            </a:r>
            <a:r>
              <a:rPr lang="en-US"/>
              <a:t> </a:t>
            </a:r>
            <a:r>
              <a:rPr lang="en-US" err="1"/>
              <a:t>포함되지</a:t>
            </a:r>
            <a:r>
              <a:rPr lang="en-US"/>
              <a:t> </a:t>
            </a:r>
            <a:r>
              <a:rPr lang="en-US" err="1"/>
              <a:t>않으므로</a:t>
            </a:r>
            <a:r>
              <a:rPr lang="en-US"/>
              <a:t>, 각 </a:t>
            </a:r>
            <a:r>
              <a:rPr lang="en-US" err="1"/>
              <a:t>상태</a:t>
            </a:r>
            <a:r>
              <a:rPr lang="en-US"/>
              <a:t> </a:t>
            </a:r>
            <a:r>
              <a:rPr lang="en-US" err="1"/>
              <a:t>s마다</a:t>
            </a:r>
            <a:r>
              <a:rPr lang="en-US"/>
              <a:t> </a:t>
            </a:r>
            <a:r>
              <a:rPr lang="en-US" err="1"/>
              <a:t>길이</a:t>
            </a:r>
            <a:r>
              <a:rPr lang="en-US"/>
              <a:t> 320의 Boolean </a:t>
            </a:r>
            <a:r>
              <a:rPr lang="ko-KR" altLang="en-US">
                <a:ea typeface="맑은 고딕"/>
              </a:rPr>
              <a:t>벡터를</a:t>
            </a:r>
            <a:r>
              <a:rPr lang="en-US"/>
              <a:t> </a:t>
            </a:r>
            <a:r>
              <a:rPr lang="en-US" err="1"/>
              <a:t>생성하여</a:t>
            </a:r>
            <a:r>
              <a:rPr lang="en-US"/>
              <a:t> </a:t>
            </a:r>
            <a:r>
              <a:rPr lang="en-US" err="1"/>
              <a:t>가능한</a:t>
            </a:r>
            <a:r>
              <a:rPr lang="en-US"/>
              <a:t> </a:t>
            </a:r>
            <a:r>
              <a:rPr lang="en-US" err="1"/>
              <a:t>행동을</a:t>
            </a:r>
            <a:r>
              <a:rPr lang="en-US"/>
              <a:t> </a:t>
            </a:r>
            <a:r>
              <a:rPr lang="en-US" err="1"/>
              <a:t>표시한다</a:t>
            </a:r>
            <a:r>
              <a:rPr lang="en-US"/>
              <a:t>(action masking).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이를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통해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항상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규칙상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유효한 행동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후보들에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대해서만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정책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확률을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분배한다.</a:t>
            </a:r>
            <a:endParaRPr lang="en-US" altLang="ko-KR">
              <a:ea typeface="맑은 고딕"/>
            </a:endParaRPr>
          </a:p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53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BCF96-76D0-1A2A-2066-39951C08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보상 함수 및 점수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AA57B-E840-1341-3DED-727506D5C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911889"/>
            <a:ext cx="5037827" cy="44376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err="1">
                <a:ea typeface="맑은 고딕"/>
              </a:rPr>
              <a:t>first_score</a:t>
            </a:r>
            <a:r>
              <a:rPr lang="ko-KR" altLang="en-US" sz="1600">
                <a:ea typeface="맑은 고딕"/>
              </a:rPr>
              <a:t>(심볼 기준 점수)</a:t>
            </a:r>
            <a:endParaRPr lang="ko-KR" altLang="en-US" sz="1600">
              <a:ea typeface="맑은 고딕" panose="020B0503020000020004" pitchFamily="34" charset="-127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1400" err="1">
                <a:ea typeface="맑은 고딕"/>
              </a:rPr>
              <a:t>tid</a:t>
            </a:r>
            <a:r>
              <a:rPr lang="ko-KR" altLang="en-US" sz="1400">
                <a:ea typeface="맑은 고딕"/>
              </a:rPr>
              <a:t> % 4가 같은 컴포넌트 크기 제곱의 합  </a:t>
            </a:r>
          </a:p>
          <a:p>
            <a:pPr>
              <a:lnSpc>
                <a:spcPct val="150000"/>
              </a:lnSpc>
            </a:pPr>
            <a:r>
              <a:rPr lang="ko-KR" altLang="en-US" sz="1600" err="1">
                <a:ea typeface="+mn-lt"/>
                <a:cs typeface="+mn-lt"/>
              </a:rPr>
              <a:t>second_score</a:t>
            </a:r>
            <a:r>
              <a:rPr lang="ko-KR" altLang="en-US" sz="1600">
                <a:ea typeface="+mn-lt"/>
                <a:cs typeface="+mn-lt"/>
              </a:rPr>
              <a:t>(색 기준 점수)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1400" err="1">
                <a:ea typeface="맑은 고딕"/>
              </a:rPr>
              <a:t>tid</a:t>
            </a:r>
            <a:r>
              <a:rPr lang="ko-KR" altLang="en-US" sz="1400">
                <a:ea typeface="맑은 고딕"/>
              </a:rPr>
              <a:t> // 4가 같은 컴포넌트 크기 제곱의 합</a:t>
            </a:r>
          </a:p>
          <a:p>
            <a:pPr>
              <a:lnSpc>
                <a:spcPct val="150000"/>
              </a:lnSpc>
            </a:pPr>
            <a:r>
              <a:rPr lang="ko-KR" altLang="en-US" sz="1600">
                <a:ea typeface="맑은 고딕"/>
              </a:rPr>
              <a:t>현재 </a:t>
            </a:r>
            <a:r>
              <a:rPr lang="ko-KR" altLang="en-US" sz="1600" err="1">
                <a:ea typeface="맑은 고딕"/>
              </a:rPr>
              <a:t>agent는</a:t>
            </a:r>
            <a:r>
              <a:rPr lang="ko-KR" altLang="en-US" sz="1600">
                <a:ea typeface="맑은 고딕"/>
              </a:rPr>
              <a:t> First </a:t>
            </a:r>
            <a:r>
              <a:rPr lang="ko-KR" altLang="en-US" sz="1600" err="1">
                <a:ea typeface="맑은 고딕"/>
              </a:rPr>
              <a:t>player로</a:t>
            </a:r>
            <a:r>
              <a:rPr lang="ko-KR" altLang="en-US" sz="1600">
                <a:ea typeface="맑은 고딕"/>
              </a:rPr>
              <a:t> 최적화하고자 하는 값은 다음과 같은 점수 차이이다.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1200" err="1">
                <a:ea typeface="맑은 고딕"/>
              </a:rPr>
              <a:t>diff</a:t>
            </a:r>
            <a:r>
              <a:rPr lang="ko-KR" altLang="en-US" sz="1200">
                <a:ea typeface="맑은 고딕"/>
              </a:rPr>
              <a:t> = </a:t>
            </a:r>
            <a:r>
              <a:rPr lang="ko-KR" altLang="en-US" sz="1200" err="1">
                <a:ea typeface="맑은 고딕"/>
              </a:rPr>
              <a:t>first_score</a:t>
            </a:r>
            <a:r>
              <a:rPr lang="ko-KR" altLang="en-US" sz="1200">
                <a:ea typeface="맑은 고딕"/>
              </a:rPr>
              <a:t> – </a:t>
            </a:r>
            <a:r>
              <a:rPr lang="ko-KR" altLang="en-US" sz="1200" err="1">
                <a:ea typeface="맑은 고딕"/>
              </a:rPr>
              <a:t>second_score</a:t>
            </a:r>
            <a:endParaRPr lang="ko-KR" altLang="en-US" sz="1200">
              <a:ea typeface="맑은 고딕"/>
            </a:endParaRPr>
          </a:p>
          <a:p>
            <a:endParaRPr lang="ko-KR" sz="1600">
              <a:ea typeface="맑은 고딕"/>
            </a:endParaRPr>
          </a:p>
          <a:p>
            <a:endParaRPr lang="ko-KR" altLang="en-US" sz="1600">
              <a:ea typeface="맑은 고딕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905175B-E47F-DBA6-5949-698F86FDEDC3}"/>
              </a:ext>
            </a:extLst>
          </p:cNvPr>
          <p:cNvSpPr txBox="1">
            <a:spLocks/>
          </p:cNvSpPr>
          <p:nvPr/>
        </p:nvSpPr>
        <p:spPr>
          <a:xfrm>
            <a:off x="6314331" y="1717925"/>
            <a:ext cx="5037827" cy="44376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>
                <a:ea typeface="맑은 고딕"/>
              </a:rPr>
              <a:t>각 </a:t>
            </a:r>
            <a:r>
              <a:rPr lang="ko-KR" altLang="en-US" sz="1600" err="1">
                <a:ea typeface="맑은 고딕"/>
              </a:rPr>
              <a:t>step이</a:t>
            </a:r>
            <a:r>
              <a:rPr lang="ko-KR" altLang="en-US" sz="1600">
                <a:ea typeface="맑은 고딕"/>
              </a:rPr>
              <a:t> 끝날 때 현재 점수 차 </a:t>
            </a:r>
            <a:r>
              <a:rPr lang="ko-KR" altLang="en-US" sz="1600" err="1">
                <a:ea typeface="맑은 고딕"/>
              </a:rPr>
              <a:t>cur_diff를</a:t>
            </a:r>
            <a:r>
              <a:rPr lang="ko-KR" altLang="en-US" sz="1600">
                <a:ea typeface="맑은 고딕"/>
              </a:rPr>
              <a:t> 계산하고 이전 </a:t>
            </a:r>
            <a:r>
              <a:rPr lang="ko-KR" altLang="en-US" sz="1600" err="1">
                <a:ea typeface="맑은 고딕"/>
              </a:rPr>
              <a:t>step까지의</a:t>
            </a:r>
            <a:r>
              <a:rPr lang="ko-KR" altLang="en-US" sz="1600">
                <a:ea typeface="맑은 고딕"/>
              </a:rPr>
              <a:t> 점수 차 </a:t>
            </a:r>
            <a:r>
              <a:rPr lang="ko-KR" altLang="en-US" sz="1600" err="1">
                <a:ea typeface="맑은 고딕"/>
              </a:rPr>
              <a:t>prev_diff와의</a:t>
            </a:r>
            <a:r>
              <a:rPr lang="ko-KR" altLang="en-US" sz="1600">
                <a:ea typeface="맑은 고딕"/>
              </a:rPr>
              <a:t> 차이를 이용하여 보상을 정의한다.</a:t>
            </a:r>
          </a:p>
          <a:p>
            <a:pPr>
              <a:lnSpc>
                <a:spcPct val="100000"/>
              </a:lnSpc>
            </a:pPr>
            <a:r>
              <a:rPr lang="ko-KR" sz="1600" err="1">
                <a:ea typeface="+mn-lt"/>
                <a:cs typeface="+mn-lt"/>
              </a:rPr>
              <a:t>Δ</a:t>
            </a:r>
            <a:r>
              <a:rPr lang="ko-KR" sz="1600">
                <a:ea typeface="+mn-lt"/>
                <a:cs typeface="+mn-lt"/>
              </a:rPr>
              <a:t>=</a:t>
            </a:r>
            <a:r>
              <a:rPr lang="ko-KR" sz="1600" err="1">
                <a:ea typeface="+mn-lt"/>
                <a:cs typeface="+mn-lt"/>
              </a:rPr>
              <a:t>curr_diff</a:t>
            </a:r>
            <a:r>
              <a:rPr lang="ko-KR" altLang="en-US" sz="1600">
                <a:ea typeface="+mn-lt"/>
                <a:cs typeface="+mn-lt"/>
              </a:rPr>
              <a:t> </a:t>
            </a:r>
            <a:r>
              <a:rPr lang="ko-KR" sz="1600">
                <a:ea typeface="+mn-lt"/>
                <a:cs typeface="+mn-lt"/>
              </a:rPr>
              <a:t>−</a:t>
            </a:r>
            <a:r>
              <a:rPr lang="ko-KR" altLang="en-US" sz="1600">
                <a:ea typeface="+mn-lt"/>
                <a:cs typeface="+mn-lt"/>
              </a:rPr>
              <a:t> </a:t>
            </a:r>
            <a:r>
              <a:rPr lang="ko-KR" sz="1600" err="1">
                <a:ea typeface="+mn-lt"/>
                <a:cs typeface="+mn-lt"/>
              </a:rPr>
              <a:t>prev_diff</a:t>
            </a:r>
            <a:endParaRPr lang="ko-KR" sz="1600">
              <a:ea typeface="맑은 고딕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sz="1600"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ko-KR" altLang="en-US" sz="1600">
                <a:ea typeface="맑은 고딕"/>
              </a:rPr>
              <a:t>기본 </a:t>
            </a:r>
            <a:r>
              <a:rPr lang="ko-KR" altLang="en-US" sz="1600" err="1">
                <a:ea typeface="맑은 고딕"/>
              </a:rPr>
              <a:t>step</a:t>
            </a:r>
            <a:r>
              <a:rPr lang="ko-KR" altLang="en-US" sz="1600">
                <a:ea typeface="맑은 고딕"/>
              </a:rPr>
              <a:t> 보상 :</a:t>
            </a:r>
          </a:p>
          <a:p>
            <a:pPr>
              <a:lnSpc>
                <a:spcPct val="100000"/>
              </a:lnSpc>
            </a:pPr>
            <a:endParaRPr lang="ko-KR" altLang="en-US" sz="1600"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ko-KR" altLang="en-US" sz="1600">
                <a:ea typeface="맑은 고딕"/>
              </a:rPr>
              <a:t>에피소드 종료 시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ko-KR" altLang="en-US" sz="1200" err="1">
                <a:ea typeface="맑은 고딕"/>
              </a:rPr>
              <a:t>curr_diff</a:t>
            </a:r>
            <a:r>
              <a:rPr lang="ko-KR" altLang="en-US" sz="1200">
                <a:ea typeface="맑은 고딕"/>
              </a:rPr>
              <a:t> &gt; 0 (승리) +1.0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ko-KR" altLang="en-US" sz="1200" err="1">
                <a:ea typeface="맑은 고딕"/>
              </a:rPr>
              <a:t>curr_diff</a:t>
            </a:r>
            <a:r>
              <a:rPr lang="ko-KR" altLang="en-US" sz="1200">
                <a:ea typeface="맑은 고딕"/>
              </a:rPr>
              <a:t> &lt; 0 (패배) -1.0 </a:t>
            </a:r>
          </a:p>
          <a:p>
            <a:pPr>
              <a:lnSpc>
                <a:spcPct val="100000"/>
              </a:lnSpc>
            </a:pPr>
            <a:endParaRPr lang="ko-KR" altLang="en-US" sz="1600">
              <a:ea typeface="맑은 고딕"/>
            </a:endParaRPr>
          </a:p>
          <a:p>
            <a:pPr>
              <a:lnSpc>
                <a:spcPct val="150000"/>
              </a:lnSpc>
            </a:pPr>
            <a:endParaRPr lang="ko-KR" sz="1600">
              <a:ea typeface="맑은 고딕"/>
            </a:endParaRPr>
          </a:p>
          <a:p>
            <a:endParaRPr lang="ko-KR" altLang="en-US" sz="1600">
              <a:ea typeface="맑은 고딕"/>
            </a:endParaRPr>
          </a:p>
        </p:txBody>
      </p:sp>
      <p:pic>
        <p:nvPicPr>
          <p:cNvPr id="6" name="그림 5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EFE5-54A7-D050-C5EC-BF153340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" t="-2686" r="559" b="6250"/>
          <a:stretch>
            <a:fillRect/>
          </a:stretch>
        </p:blipFill>
        <p:spPr>
          <a:xfrm>
            <a:off x="8181088" y="3098879"/>
            <a:ext cx="2509177" cy="6613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CF2AE1-EDE9-0E3A-9EE4-10FD2EDB22BB}"/>
              </a:ext>
            </a:extLst>
          </p:cNvPr>
          <p:cNvSpPr txBox="1"/>
          <p:nvPr/>
        </p:nvSpPr>
        <p:spPr>
          <a:xfrm>
            <a:off x="837995" y="5409342"/>
            <a:ext cx="1026319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>
                <a:latin typeface="맑은 고딕"/>
                <a:ea typeface="맑은 고딕"/>
              </a:rPr>
              <a:t> 희소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보상 </a:t>
            </a:r>
            <a:r>
              <a:rPr lang="en-US" sz="1400" err="1">
                <a:latin typeface="맑은 고딕"/>
                <a:ea typeface="맑은 고딕"/>
              </a:rPr>
              <a:t>문제를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해결하기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위해</a:t>
            </a:r>
            <a:r>
              <a:rPr lang="en-US" sz="1400">
                <a:latin typeface="맑은 고딕"/>
                <a:ea typeface="맑은 고딕"/>
              </a:rPr>
              <a:t> 매 턴 </a:t>
            </a:r>
            <a:r>
              <a:rPr lang="en-US" sz="1400" err="1">
                <a:latin typeface="맑은 고딕"/>
                <a:ea typeface="맑은 고딕"/>
              </a:rPr>
              <a:t>점수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차이의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변화량을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보상으로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제공하는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b="1">
                <a:latin typeface="맑은 고딕"/>
                <a:ea typeface="맑은 고딕"/>
                <a:cs typeface="Google Sans Text"/>
              </a:rPr>
              <a:t>Reward </a:t>
            </a:r>
            <a:r>
              <a:rPr lang="en-US" sz="1400" b="1" err="1">
                <a:latin typeface="맑은 고딕"/>
                <a:ea typeface="맑은 고딕"/>
                <a:cs typeface="Google Sans Text"/>
              </a:rPr>
              <a:t>Shaping</a:t>
            </a:r>
            <a:r>
              <a:rPr lang="en-US" sz="1400" err="1">
                <a:latin typeface="맑은 고딕"/>
                <a:ea typeface="맑은 고딕"/>
              </a:rPr>
              <a:t>을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적용하였다</a:t>
            </a:r>
            <a:r>
              <a:rPr lang="en-US" sz="1400">
                <a:latin typeface="맑은 고딕"/>
                <a:ea typeface="맑은 고딕"/>
              </a:rPr>
              <a:t>. </a:t>
            </a:r>
            <a:r>
              <a:rPr lang="en-US" sz="1400" err="1">
                <a:latin typeface="맑은 고딕"/>
                <a:ea typeface="맑은 고딕"/>
              </a:rPr>
              <a:t>점수는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b="1">
                <a:latin typeface="맑은 고딕"/>
                <a:ea typeface="맑은 고딕"/>
                <a:cs typeface="Google Sans Text"/>
              </a:rPr>
              <a:t>Union-Find </a:t>
            </a:r>
            <a:r>
              <a:rPr lang="en-US" sz="1400" b="1" err="1">
                <a:latin typeface="맑은 고딕"/>
                <a:ea typeface="맑은 고딕"/>
                <a:cs typeface="Google Sans Text"/>
              </a:rPr>
              <a:t>알고리즘</a:t>
            </a:r>
            <a:r>
              <a:rPr lang="en-US" sz="1400" err="1">
                <a:latin typeface="맑은 고딕"/>
                <a:ea typeface="맑은 고딕"/>
              </a:rPr>
              <a:t>을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통해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계산된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연결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그룹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크기의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제곱합으로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정의되며</a:t>
            </a:r>
            <a:r>
              <a:rPr lang="en-US" sz="1400">
                <a:latin typeface="맑은 고딕"/>
                <a:ea typeface="맑은 고딕"/>
              </a:rPr>
              <a:t>, </a:t>
            </a:r>
            <a:r>
              <a:rPr lang="en-US" sz="1400" err="1">
                <a:latin typeface="맑은 고딕"/>
                <a:ea typeface="맑은 고딕"/>
              </a:rPr>
              <a:t>학습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안정성을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위해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보상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값을</a:t>
            </a:r>
            <a:r>
              <a:rPr lang="en-US" sz="1400">
                <a:latin typeface="맑은 고딕"/>
                <a:ea typeface="맑은 고딕"/>
              </a:rPr>
              <a:t> [-</a:t>
            </a:r>
            <a:r>
              <a:rPr lang="en-US" sz="1400">
                <a:latin typeface="맑은 고딕"/>
                <a:ea typeface="맑은 고딕"/>
                <a:cs typeface="Google Sans Text"/>
              </a:rPr>
              <a:t>2, 2]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범위로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정규화</a:t>
            </a:r>
            <a:r>
              <a:rPr lang="en-US" sz="1400">
                <a:latin typeface="맑은 고딕"/>
                <a:ea typeface="맑은 고딕"/>
              </a:rPr>
              <a:t>(Normalization)</a:t>
            </a:r>
            <a:r>
              <a:rPr lang="en-US" sz="1400" err="1">
                <a:latin typeface="맑은 고딕"/>
                <a:ea typeface="맑은 고딕"/>
              </a:rPr>
              <a:t>하였다</a:t>
            </a:r>
            <a:r>
              <a:rPr lang="en-US" sz="1400">
                <a:latin typeface="맑은 고딕"/>
                <a:ea typeface="맑은 고딕"/>
              </a:rPr>
              <a:t>. </a:t>
            </a:r>
            <a:r>
              <a:rPr lang="en-US" sz="1400" err="1">
                <a:latin typeface="맑은 고딕"/>
                <a:ea typeface="맑은 고딕"/>
              </a:rPr>
              <a:t>최종적으로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게임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결과에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ko-KR" altLang="en-US" sz="1400">
                <a:latin typeface="맑은 고딕"/>
                <a:ea typeface="맑은 고딕"/>
              </a:rPr>
              <a:t>따른 보너스를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부여하여</a:t>
            </a:r>
            <a:r>
              <a:rPr lang="en-US" sz="1400">
                <a:latin typeface="맑은 고딕"/>
                <a:ea typeface="맑은 고딕"/>
              </a:rPr>
              <a:t> agent</a:t>
            </a:r>
            <a:r>
              <a:rPr lang="ko-KR" altLang="en-US" sz="1400">
                <a:latin typeface="맑은 고딕"/>
                <a:ea typeface="맑은 고딕"/>
              </a:rPr>
              <a:t>가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승리하는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전략을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학습하도록</a:t>
            </a:r>
            <a:r>
              <a:rPr lang="en-US" sz="1400">
                <a:latin typeface="맑은 고딕"/>
                <a:ea typeface="맑은 고딕"/>
              </a:rPr>
              <a:t> </a:t>
            </a:r>
            <a:r>
              <a:rPr lang="en-US" sz="1400" err="1">
                <a:latin typeface="맑은 고딕"/>
                <a:ea typeface="맑은 고딕"/>
              </a:rPr>
              <a:t>유도하였다</a:t>
            </a:r>
            <a:r>
              <a:rPr lang="en-US" sz="1400">
                <a:latin typeface="맑은 고딕"/>
                <a:ea typeface="맑은 고딕"/>
              </a:rPr>
              <a:t>.</a:t>
            </a:r>
            <a:endParaRPr lang="en-US" altLang="ko-KR" sz="1400" err="1">
              <a:latin typeface="맑은 고딕"/>
              <a:ea typeface="맑은 고딕"/>
            </a:endParaRPr>
          </a:p>
          <a:p>
            <a:pPr algn="ctr"/>
            <a:endParaRPr lang="ko-KR" altLang="en-US" sz="14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08499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5478-6255-FAFF-6DAF-F3FB86137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F42C0-6ED2-9BAD-DD3D-EE765202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ea typeface="맑은 고딕"/>
              </a:rPr>
              <a:t>Opponent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Agent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Policy</a:t>
            </a:r>
            <a:endParaRPr lang="ko-KR" altLang="en-US"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7FEAE-369F-6B19-2A23-42E7885EB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000" baseline="30000" err="1">
                <a:ea typeface="+mn-lt"/>
                <a:cs typeface="+mn-lt"/>
              </a:rPr>
              <a:t>Random</a:t>
            </a:r>
            <a:r>
              <a:rPr lang="ko-KR" altLang="en-US" sz="2000" baseline="30000">
                <a:ea typeface="+mn-lt"/>
                <a:cs typeface="+mn-lt"/>
              </a:rPr>
              <a:t> </a:t>
            </a:r>
            <a:r>
              <a:rPr lang="ko-KR" altLang="en-US" sz="2000" baseline="30000" err="1">
                <a:ea typeface="+mn-lt"/>
                <a:cs typeface="+mn-lt"/>
              </a:rPr>
              <a:t>policy</a:t>
            </a:r>
            <a:endParaRPr lang="ko-KR" altLang="en-US" sz="2000" baseline="30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baseline="30000">
                <a:ea typeface="맑은 고딕"/>
              </a:rPr>
              <a:t>현재 </a:t>
            </a:r>
            <a:r>
              <a:rPr lang="ko-KR" altLang="en-US" sz="1600" baseline="30000" err="1">
                <a:ea typeface="맑은 고딕"/>
              </a:rPr>
              <a:t>손패와</a:t>
            </a:r>
            <a:r>
              <a:rPr lang="ko-KR" altLang="en-US" sz="1600" baseline="30000">
                <a:ea typeface="맑은 고딕"/>
              </a:rPr>
              <a:t> 빈 칸 조합 중 하나를 균등 분포로 선택한다.</a:t>
            </a:r>
          </a:p>
          <a:p>
            <a:endParaRPr lang="ko-KR" altLang="en-US" sz="2000" baseline="30000">
              <a:ea typeface="맑은 고딕"/>
            </a:endParaRPr>
          </a:p>
          <a:p>
            <a:r>
              <a:rPr lang="ko-KR" altLang="en-US" sz="2000" baseline="30000" err="1">
                <a:ea typeface="맑은 고딕"/>
              </a:rPr>
              <a:t>Heuristic</a:t>
            </a:r>
            <a:r>
              <a:rPr lang="ko-KR" altLang="en-US" sz="2000" baseline="30000">
                <a:ea typeface="맑은 고딕"/>
              </a:rPr>
              <a:t> </a:t>
            </a:r>
            <a:r>
              <a:rPr lang="ko-KR" altLang="en-US" sz="2000" baseline="30000" err="1">
                <a:ea typeface="맑은 고딕"/>
              </a:rPr>
              <a:t>policy</a:t>
            </a:r>
            <a:endParaRPr lang="ko-KR" altLang="en-US" sz="2000" baseline="30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baseline="30000">
                <a:ea typeface="맑은 고딕"/>
              </a:rPr>
              <a:t>상대는 색 기준 연결을 극대화하는 방향으로 수를 둔다.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baseline="30000" err="1">
                <a:ea typeface="맑은 고딕"/>
              </a:rPr>
              <a:t>local_score</a:t>
            </a:r>
            <a:r>
              <a:rPr lang="ko-KR" altLang="en-US" sz="1600" baseline="30000">
                <a:ea typeface="맑은 고딕"/>
              </a:rPr>
              <a:t>(공격 점수) : 자신의 타일을 두었을 때의 색 기반 지역 점수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baseline="30000" err="1">
                <a:ea typeface="맑은 고딕"/>
              </a:rPr>
              <a:t>Center_bonus</a:t>
            </a:r>
            <a:r>
              <a:rPr lang="ko-KR" altLang="en-US" sz="1600" baseline="30000">
                <a:ea typeface="맑은 고딕"/>
              </a:rPr>
              <a:t> : 인접 칸 개수에 비례하는 보너스 (모서리 &lt; 중앙)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baseline="30000" err="1">
                <a:ea typeface="맑은 고딕"/>
              </a:rPr>
              <a:t>defense</a:t>
            </a:r>
            <a:r>
              <a:rPr lang="ko-KR" altLang="en-US" sz="1600" baseline="30000">
                <a:ea typeface="맑은 고딕"/>
              </a:rPr>
              <a:t> (방어 점수) : 상대가 해당 칸에 두었을 때의 공격 점수의 최댓값</a:t>
            </a:r>
          </a:p>
          <a:p>
            <a:endParaRPr lang="ko-KR" altLang="en-US" sz="2000" baseline="30000">
              <a:ea typeface="맑은 고딕"/>
            </a:endParaRPr>
          </a:p>
          <a:p>
            <a:r>
              <a:rPr lang="ko-KR" altLang="en-US" sz="2000" baseline="30000" err="1">
                <a:ea typeface="맑은 고딕"/>
              </a:rPr>
              <a:t>Self-play</a:t>
            </a:r>
            <a:endParaRPr lang="ko-KR" altLang="en-US" sz="2000" baseline="30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1600" baseline="30000">
                <a:ea typeface="맑은 고딕"/>
              </a:rPr>
              <a:t>일정 </a:t>
            </a:r>
            <a:r>
              <a:rPr lang="ko-KR" altLang="en-US" sz="1600" baseline="30000" err="1">
                <a:ea typeface="맑은 고딕"/>
              </a:rPr>
              <a:t>episode</a:t>
            </a:r>
            <a:r>
              <a:rPr lang="ko-KR" altLang="en-US" sz="1600" baseline="30000">
                <a:ea typeface="맑은 고딕"/>
              </a:rPr>
              <a:t> 이후에는, 현재까지 학습된 </a:t>
            </a:r>
            <a:r>
              <a:rPr lang="ko-KR" altLang="en-US" sz="1600" baseline="30000" err="1">
                <a:ea typeface="맑은 고딕"/>
              </a:rPr>
              <a:t>policy를</a:t>
            </a:r>
            <a:r>
              <a:rPr lang="ko-KR" altLang="en-US" sz="1600" baseline="30000">
                <a:ea typeface="맑은 고딕"/>
              </a:rPr>
              <a:t> 별도의 </a:t>
            </a:r>
            <a:r>
              <a:rPr lang="ko-KR" altLang="en-US" sz="1600" baseline="30000" err="1">
                <a:ea typeface="맑은 고딕"/>
              </a:rPr>
              <a:t>opponent</a:t>
            </a:r>
            <a:r>
              <a:rPr lang="ko-KR" altLang="en-US" sz="1600" baseline="30000">
                <a:ea typeface="맑은 고딕"/>
              </a:rPr>
              <a:t> 모델로 유지하고 일부 에피소드에서 이 모델을 </a:t>
            </a:r>
            <a:r>
              <a:rPr lang="ko-KR" altLang="en-US" sz="1600" baseline="30000" err="1">
                <a:ea typeface="맑은 고딕"/>
              </a:rPr>
              <a:t>opponent</a:t>
            </a:r>
            <a:r>
              <a:rPr lang="ko-KR" altLang="en-US" sz="1600" baseline="30000">
                <a:ea typeface="맑은 고딕"/>
              </a:rPr>
              <a:t> </a:t>
            </a:r>
            <a:r>
              <a:rPr lang="ko-KR" altLang="en-US" sz="1600" baseline="30000" err="1">
                <a:ea typeface="맑은 고딕"/>
              </a:rPr>
              <a:t>policy로</a:t>
            </a:r>
            <a:r>
              <a:rPr lang="ko-KR" altLang="en-US" sz="1600" baseline="30000">
                <a:ea typeface="맑은 고딕"/>
              </a:rPr>
              <a:t> 사용한다. 이는 주기적으로 갱신되며 현재 모델이 강한 휴리스틱 상대를 어느정도 뛰어 넘는 성능을 보일 때 업데이트 된다.</a:t>
            </a:r>
          </a:p>
          <a:p>
            <a:endParaRPr lang="ko-KR" altLang="en-US" baseline="30000">
              <a:ea typeface="맑은 고딕"/>
            </a:endParaRPr>
          </a:p>
          <a:p>
            <a:endParaRPr lang="ko-KR" altLang="en-US" baseline="30000">
              <a:ea typeface="맑은 고딕"/>
            </a:endParaRPr>
          </a:p>
          <a:p>
            <a:endParaRPr lang="ko-KR" baseline="30000">
              <a:ea typeface="맑은 고딕"/>
            </a:endParaRPr>
          </a:p>
          <a:p>
            <a:endParaRPr lang="ko-KR" altLang="en-US" baseline="30000">
              <a:ea typeface="맑은 고딕"/>
            </a:endParaRPr>
          </a:p>
        </p:txBody>
      </p:sp>
      <p:pic>
        <p:nvPicPr>
          <p:cNvPr id="4" name="그림 3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2A879E-64A7-342F-5E54-341949AB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" r="254" b="10000"/>
          <a:stretch>
            <a:fillRect/>
          </a:stretch>
        </p:blipFill>
        <p:spPr>
          <a:xfrm>
            <a:off x="6114072" y="3426934"/>
            <a:ext cx="5547725" cy="78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2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D02BC-F0C6-F204-DBFC-FEA1D55A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구현 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BB6187-7AB9-F4D0-782D-D14D1F4CE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000">
                <a:ea typeface="맑은 고딕"/>
              </a:rPr>
              <a:t>OS : Windows 11</a:t>
            </a:r>
            <a:endParaRPr lang="ko-KR" sz="2000">
              <a:ea typeface="맑은 고딕"/>
            </a:endParaRPr>
          </a:p>
          <a:p>
            <a:pPr>
              <a:buFont typeface="Arial"/>
              <a:buChar char="•"/>
            </a:pPr>
            <a:r>
              <a:rPr lang="ko-KR" altLang="en-US" sz="2000">
                <a:ea typeface="맑은 고딕"/>
              </a:rPr>
              <a:t>CPU : </a:t>
            </a:r>
            <a:r>
              <a:rPr lang="ko-KR" sz="2000">
                <a:ea typeface="+mn-lt"/>
                <a:cs typeface="+mn-lt"/>
              </a:rPr>
              <a:t>Intel(</a:t>
            </a:r>
            <a:r>
              <a:rPr lang="ko-KR" sz="2000" err="1">
                <a:ea typeface="+mn-lt"/>
                <a:cs typeface="+mn-lt"/>
              </a:rPr>
              <a:t>R</a:t>
            </a:r>
            <a:r>
              <a:rPr lang="ko-KR" sz="2000">
                <a:ea typeface="+mn-lt"/>
                <a:cs typeface="+mn-lt"/>
              </a:rPr>
              <a:t>) </a:t>
            </a:r>
            <a:r>
              <a:rPr lang="ko-KR" sz="2000" err="1">
                <a:ea typeface="+mn-lt"/>
                <a:cs typeface="+mn-lt"/>
              </a:rPr>
              <a:t>Core</a:t>
            </a:r>
            <a:r>
              <a:rPr lang="ko-KR" sz="2000">
                <a:ea typeface="+mn-lt"/>
                <a:cs typeface="+mn-lt"/>
              </a:rPr>
              <a:t>(TM) i5-14400(2.50 </a:t>
            </a:r>
            <a:r>
              <a:rPr lang="ko-KR" sz="2000" err="1">
                <a:ea typeface="+mn-lt"/>
                <a:cs typeface="+mn-lt"/>
              </a:rPr>
              <a:t>GHz</a:t>
            </a:r>
            <a:r>
              <a:rPr lang="ko-KR" sz="2000">
                <a:ea typeface="+mn-lt"/>
                <a:cs typeface="+mn-lt"/>
              </a:rPr>
              <a:t>)</a:t>
            </a:r>
          </a:p>
          <a:p>
            <a:pPr>
              <a:buFont typeface="Arial"/>
              <a:buChar char="•"/>
            </a:pPr>
            <a:r>
              <a:rPr lang="en-US" altLang="en-US" sz="2000">
                <a:ea typeface="+mn-lt"/>
                <a:cs typeface="+mn-lt"/>
              </a:rPr>
              <a:t>GPU : NVIDIA GeForce RTX 4060 8GB</a:t>
            </a:r>
          </a:p>
          <a:p>
            <a:pPr>
              <a:buFont typeface="Arial"/>
              <a:buChar char="•"/>
            </a:pPr>
            <a:endParaRPr lang="en-US" altLang="en-US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altLang="en-US" sz="1800">
                <a:ea typeface="+mn-lt"/>
                <a:cs typeface="+mn-lt"/>
              </a:rPr>
              <a:t>Framework</a:t>
            </a:r>
          </a:p>
          <a:p>
            <a:pPr lvl="1">
              <a:buFont typeface="Arial"/>
              <a:buChar char="•"/>
            </a:pPr>
            <a:r>
              <a:rPr lang="en-US" altLang="en-US" sz="1800">
                <a:ea typeface="+mn-lt"/>
                <a:cs typeface="+mn-lt"/>
              </a:rPr>
              <a:t>Python 3.11.9</a:t>
            </a:r>
          </a:p>
          <a:p>
            <a:pPr lvl="1">
              <a:buFont typeface="Arial"/>
              <a:buChar char="•"/>
            </a:pPr>
            <a:r>
              <a:rPr lang="en-US" altLang="en-US" sz="1800" err="1">
                <a:ea typeface="+mn-lt"/>
                <a:cs typeface="+mn-lt"/>
              </a:rPr>
              <a:t>PyTorch</a:t>
            </a:r>
            <a:r>
              <a:rPr lang="en-US" altLang="en-US" sz="1800">
                <a:ea typeface="+mn-lt"/>
                <a:cs typeface="+mn-lt"/>
              </a:rPr>
              <a:t> : </a:t>
            </a:r>
            <a:r>
              <a:rPr lang="en-US" sz="1800">
                <a:ea typeface="+mn-lt"/>
                <a:cs typeface="+mn-lt"/>
              </a:rPr>
              <a:t>2.5.1+cu121</a:t>
            </a:r>
            <a:endParaRPr lang="en-US" altLang="en-US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altLang="en-US" sz="1800">
                <a:ea typeface="+mn-lt"/>
                <a:cs typeface="+mn-lt"/>
              </a:rPr>
              <a:t>NumPy : </a:t>
            </a:r>
            <a:r>
              <a:rPr lang="en-US" sz="1800">
                <a:ea typeface="+mn-lt"/>
                <a:cs typeface="+mn-lt"/>
              </a:rPr>
              <a:t>2.3.3</a:t>
            </a:r>
          </a:p>
          <a:p>
            <a:pPr lvl="1">
              <a:buFont typeface="Arial"/>
              <a:buChar char="•"/>
            </a:pPr>
            <a:r>
              <a:rPr lang="en-US" altLang="en-US" sz="1800">
                <a:ea typeface="+mn-lt"/>
                <a:cs typeface="+mn-lt"/>
              </a:rPr>
              <a:t>CUDA Toolkit version: 12.8</a:t>
            </a:r>
          </a:p>
          <a:p>
            <a:pPr lvl="1">
              <a:buFont typeface="Arial"/>
              <a:buChar char="•"/>
            </a:pPr>
            <a:endParaRPr lang="en-US" alt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alt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6628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B4920E-FB41-93BC-3E47-A8E2F052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ko-KR">
                <a:ea typeface="+mj-lt"/>
                <a:cs typeface="+mj-lt"/>
              </a:rPr>
              <a:t>평가 방식 &amp; 비교 조건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725952-2CDD-003A-6541-DCBD578DD8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4" b="7042"/>
          <a:stretch>
            <a:fillRect/>
          </a:stretch>
        </p:blipFill>
        <p:spPr>
          <a:xfrm>
            <a:off x="1237337" y="704504"/>
            <a:ext cx="9717325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A6A0EF-998D-F00A-6FD2-C7C40C51F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sz="1800">
                <a:ea typeface="맑은 고딕"/>
              </a:rPr>
              <a:t>NYPC 본선 테스팅 툴(CLI)을 수정하여 두 agent를 대결하고 얻은 승률을 성능 지표로 하였다.</a:t>
            </a:r>
          </a:p>
          <a:p>
            <a:endParaRPr lang="ko-KR" altLang="en-US" sz="1800">
              <a:ea typeface="맑은 고딕"/>
            </a:endParaRPr>
          </a:p>
          <a:p>
            <a:endParaRPr lang="ko-KR" altLang="en-US" sz="1800">
              <a:ea typeface="맑은 고딕"/>
            </a:endParaRPr>
          </a:p>
          <a:p>
            <a:r>
              <a:rPr lang="ko-KR" altLang="en-US" sz="1800">
                <a:ea typeface="맑은 고딕"/>
              </a:rPr>
              <a:t>random bot(random-code.py), sample bot(sample-code.py), heuristic bot(strong.py) 세 종류의 상대 agent의 대결을 하여 각 성능을 측정하였다.</a:t>
            </a:r>
          </a:p>
        </p:txBody>
      </p:sp>
    </p:spTree>
    <p:extLst>
      <p:ext uri="{BB962C8B-B14F-4D97-AF65-F5344CB8AC3E}">
        <p14:creationId xmlns:p14="http://schemas.microsoft.com/office/powerpoint/2010/main" val="4289959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06964-B68F-77AE-24F5-349D2558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ea typeface="맑은 고딕"/>
              </a:rPr>
              <a:t>Agent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Architecture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69ACFD-5509-A3F6-CD27-3F89A7C17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888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b="1" err="1">
                <a:latin typeface="Malgun Gothic"/>
                <a:ea typeface="Malgun Gothic"/>
              </a:rPr>
              <a:t>ResNet</a:t>
            </a:r>
            <a:r>
              <a:rPr lang="ko-KR" altLang="en-US" b="1">
                <a:latin typeface="Malgun Gothic"/>
                <a:ea typeface="Malgun Gothic"/>
              </a:rPr>
              <a:t> 기반 </a:t>
            </a:r>
            <a:r>
              <a:rPr lang="ko-KR" altLang="en-US" b="1" err="1">
                <a:latin typeface="Malgun Gothic"/>
                <a:ea typeface="Malgun Gothic"/>
              </a:rPr>
              <a:t>Actor-Critic</a:t>
            </a:r>
            <a:r>
              <a:rPr lang="ko-KR" altLang="en-US" b="1">
                <a:latin typeface="Malgun Gothic"/>
                <a:ea typeface="Malgun Gothic"/>
              </a:rPr>
              <a:t> </a:t>
            </a:r>
          </a:p>
          <a:p>
            <a:pPr marL="0" indent="0">
              <a:buNone/>
            </a:pPr>
            <a:endParaRPr lang="ko-KR" altLang="en-US" b="1">
              <a:latin typeface="Malgun Gothic"/>
              <a:ea typeface="Malgun Gothic"/>
            </a:endParaRPr>
          </a:p>
          <a:p>
            <a:pPr marL="0" indent="0">
              <a:buNone/>
            </a:pPr>
            <a:r>
              <a:rPr lang="ko-KR" altLang="en-US" sz="2000">
                <a:latin typeface="Malgun Gothic"/>
                <a:ea typeface="Malgun Gothic"/>
              </a:rPr>
              <a:t>하나의 공유 </a:t>
            </a:r>
            <a:r>
              <a:rPr lang="ko-KR" altLang="en-US" sz="2000" err="1">
                <a:latin typeface="Malgun Gothic"/>
                <a:ea typeface="Malgun Gothic"/>
              </a:rPr>
              <a:t>ResNet</a:t>
            </a:r>
            <a:r>
              <a:rPr lang="ko-KR" altLang="en-US" sz="2000">
                <a:latin typeface="Malgun Gothic"/>
                <a:ea typeface="Malgun Gothic"/>
              </a:rPr>
              <a:t> </a:t>
            </a:r>
            <a:r>
              <a:rPr lang="ko-KR" altLang="en-US" sz="2000" err="1">
                <a:latin typeface="Malgun Gothic"/>
                <a:ea typeface="Malgun Gothic"/>
              </a:rPr>
              <a:t>Backbone</a:t>
            </a:r>
            <a:r>
              <a:rPr lang="ko-KR" altLang="en-US" sz="2000">
                <a:latin typeface="Malgun Gothic"/>
                <a:ea typeface="Malgun Gothic"/>
              </a:rPr>
              <a:t> 위에 정책/가치/점수변화 예측 세가지 헤드를 올린 구조</a:t>
            </a:r>
          </a:p>
          <a:p>
            <a:pPr>
              <a:lnSpc>
                <a:spcPct val="160000"/>
              </a:lnSpc>
            </a:pPr>
            <a:r>
              <a:rPr lang="ko-KR" altLang="en-US" sz="2000">
                <a:latin typeface="Malgun Gothic"/>
                <a:ea typeface="Malgun Gothic"/>
              </a:rPr>
              <a:t>보드 인코더</a:t>
            </a:r>
          </a:p>
          <a:p>
            <a:pPr lvl="1">
              <a:lnSpc>
                <a:spcPct val="160000"/>
              </a:lnSpc>
              <a:buFont typeface="Courier New,monospace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</a:rPr>
              <a:t>Conv2d(16 -&gt; 128, 3x3) + </a:t>
            </a:r>
            <a:r>
              <a:rPr lang="ko-KR" sz="1600" err="1">
                <a:latin typeface="Malgun Gothic"/>
                <a:ea typeface="Malgun Gothic"/>
              </a:rPr>
              <a:t>Batchnorm</a:t>
            </a:r>
            <a:r>
              <a:rPr lang="ko-KR" sz="1600">
                <a:latin typeface="Malgun Gothic"/>
                <a:ea typeface="Malgun Gothic"/>
              </a:rPr>
              <a:t> + </a:t>
            </a:r>
            <a:r>
              <a:rPr lang="ko-KR" sz="1600" err="1">
                <a:latin typeface="Malgun Gothic"/>
                <a:ea typeface="Malgun Gothic"/>
              </a:rPr>
              <a:t>ReLU</a:t>
            </a:r>
            <a:endParaRPr lang="en-US" sz="1600">
              <a:latin typeface="Malgun Gothic"/>
              <a:ea typeface="맑은 고딕"/>
              <a:cs typeface="Arial"/>
            </a:endParaRPr>
          </a:p>
          <a:p>
            <a:pPr lvl="1">
              <a:lnSpc>
                <a:spcPct val="160000"/>
              </a:lnSpc>
              <a:buFont typeface="Courier New,monospace" panose="020B0604020202020204" pitchFamily="34" charset="0"/>
              <a:buChar char="o"/>
            </a:pPr>
            <a:r>
              <a:rPr lang="ko-KR" sz="1600" err="1">
                <a:latin typeface="Malgun Gothic"/>
                <a:ea typeface="Malgun Gothic"/>
              </a:rPr>
              <a:t>ResBlock</a:t>
            </a:r>
            <a:r>
              <a:rPr lang="ko-KR" sz="1600">
                <a:latin typeface="Malgun Gothic"/>
                <a:ea typeface="Malgun Gothic"/>
              </a:rPr>
              <a:t> 5개</a:t>
            </a:r>
            <a:endParaRPr lang="ko-KR">
              <a:latin typeface="Malgun Gothic"/>
              <a:ea typeface="Malgun Gothic"/>
            </a:endParaRPr>
          </a:p>
          <a:p>
            <a:pPr lvl="2">
              <a:lnSpc>
                <a:spcPct val="160000"/>
              </a:lnSpc>
              <a:buFont typeface="Wingdings" panose="020B0604020202020204" pitchFamily="34" charset="0"/>
              <a:buChar char="§"/>
            </a:pPr>
            <a:r>
              <a:rPr lang="ko-KR" altLang="en-US" sz="1200">
                <a:latin typeface="Malgun Gothic"/>
                <a:ea typeface="Malgun Gothic"/>
                <a:cs typeface="+mn-lt"/>
              </a:rPr>
              <a:t>각 </a:t>
            </a:r>
            <a:r>
              <a:rPr lang="en-US" altLang="ko-KR" sz="1200" err="1">
                <a:latin typeface="Malgun Gothic"/>
                <a:ea typeface="+mn-lt"/>
                <a:cs typeface="+mn-lt"/>
              </a:rPr>
              <a:t>ResBlock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: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Conv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→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BN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→ </a:t>
            </a:r>
            <a:r>
              <a:rPr lang="en-US" altLang="ko-KR" sz="1200" err="1">
                <a:latin typeface="Malgun Gothic"/>
                <a:ea typeface="+mn-lt"/>
                <a:cs typeface="+mn-lt"/>
              </a:rPr>
              <a:t>ReLU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→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Conv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→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BN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+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skip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>
                <a:latin typeface="Malgun Gothic"/>
                <a:ea typeface="+mn-lt"/>
                <a:cs typeface="+mn-lt"/>
              </a:rPr>
              <a:t>connection</a:t>
            </a:r>
            <a:endParaRPr lang="ko-KR" sz="1200">
              <a:latin typeface="Malgun Gothic"/>
              <a:ea typeface="Malgun Gothic"/>
            </a:endParaRPr>
          </a:p>
          <a:p>
            <a:pPr>
              <a:lnSpc>
                <a:spcPct val="160000"/>
              </a:lnSpc>
            </a:pPr>
            <a:r>
              <a:rPr lang="ko-KR" altLang="en-US" sz="2000" err="1">
                <a:latin typeface="Malgun Gothic"/>
                <a:ea typeface="Malgun Gothic"/>
              </a:rPr>
              <a:t>손패</a:t>
            </a:r>
            <a:r>
              <a:rPr lang="ko-KR" altLang="en-US" sz="2000">
                <a:latin typeface="Malgun Gothic"/>
                <a:ea typeface="Malgun Gothic"/>
              </a:rPr>
              <a:t> 인코더</a:t>
            </a:r>
          </a:p>
          <a:p>
            <a:pPr lvl="1">
              <a:lnSpc>
                <a:spcPct val="160000"/>
              </a:lnSpc>
              <a:buFont typeface="Courier New,monospace" panose="020B0604020202020204" pitchFamily="34" charset="0"/>
              <a:buChar char="o"/>
            </a:pPr>
            <a:r>
              <a:rPr lang="ko-KR" sz="1600" err="1">
                <a:latin typeface="Malgun Gothic"/>
                <a:ea typeface="Malgun Gothic"/>
              </a:rPr>
              <a:t>Linear</a:t>
            </a:r>
            <a:r>
              <a:rPr lang="ko-KR" sz="1600">
                <a:latin typeface="Malgun Gothic"/>
                <a:ea typeface="Malgun Gothic"/>
              </a:rPr>
              <a:t>(160 -&gt; 128) + </a:t>
            </a:r>
            <a:r>
              <a:rPr lang="ko-KR" sz="1600" err="1">
                <a:latin typeface="Malgun Gothic"/>
                <a:ea typeface="Malgun Gothic"/>
              </a:rPr>
              <a:t>ReLU</a:t>
            </a:r>
            <a:endParaRPr lang="ko-KR">
              <a:latin typeface="Malgun Gothic"/>
              <a:ea typeface="Malgun Gothic"/>
            </a:endParaRPr>
          </a:p>
          <a:p>
            <a:pPr>
              <a:lnSpc>
                <a:spcPct val="160000"/>
              </a:lnSpc>
            </a:pPr>
            <a:r>
              <a:rPr lang="ko-KR" altLang="en-US" sz="2000">
                <a:latin typeface="Malgun Gothic"/>
                <a:ea typeface="Malgun Gothic"/>
              </a:rPr>
              <a:t>정책 헤드</a:t>
            </a:r>
            <a:endParaRPr lang="ko-KR" altLang="en-US" sz="1600">
              <a:latin typeface="Malgun Gothic"/>
              <a:ea typeface="Malgun Gothic"/>
            </a:endParaRP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  <a:cs typeface="+mn-lt"/>
              </a:rPr>
              <a:t>보드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feature에</a:t>
            </a:r>
            <a:r>
              <a:rPr lang="ko-KR" sz="1600">
                <a:latin typeface="Malgun Gothic"/>
                <a:ea typeface="Malgun Gothic"/>
                <a:cs typeface="+mn-lt"/>
              </a:rPr>
              <a:t> </a:t>
            </a:r>
            <a:r>
              <a:rPr lang="ko-KR" sz="1600">
                <a:latin typeface="Malgun Gothic"/>
                <a:ea typeface="Malgun Gothic"/>
              </a:rPr>
              <a:t>Conv2d(128 → 32, 1×1)</a:t>
            </a:r>
            <a:r>
              <a:rPr lang="ko-KR" sz="1600">
                <a:latin typeface="Malgun Gothic"/>
                <a:ea typeface="Malgun Gothic"/>
                <a:cs typeface="+mn-lt"/>
              </a:rPr>
              <a:t> + BN + </a:t>
            </a:r>
            <a:r>
              <a:rPr lang="en-US" altLang="ko-KR" sz="1600" err="1">
                <a:latin typeface="Malgun Gothic"/>
                <a:ea typeface="+mn-lt"/>
                <a:cs typeface="+mn-lt"/>
              </a:rPr>
              <a:t>ReLU</a:t>
            </a:r>
            <a:endParaRPr lang="ko-KR" altLang="en-US" sz="1600">
              <a:latin typeface="Malgun Gothic"/>
              <a:ea typeface="Malgun Gothic"/>
              <a:cs typeface="+mn-lt"/>
            </a:endParaRP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altLang="ko-KR" sz="1600">
                <a:latin typeface="Malgun Gothic"/>
                <a:ea typeface="+mn-lt"/>
                <a:cs typeface="+mn-lt"/>
              </a:rPr>
              <a:t>Flatten</a:t>
            </a:r>
            <a:r>
              <a:rPr lang="ko-KR" sz="1600">
                <a:latin typeface="Malgun Gothic"/>
                <a:ea typeface="Malgun Gothic"/>
                <a:cs typeface="+mn-lt"/>
              </a:rPr>
              <a:t>(32×8×8) 후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손패</a:t>
            </a:r>
            <a:r>
              <a:rPr lang="ko-KR" sz="1600">
                <a:latin typeface="Malgun Gothic"/>
                <a:ea typeface="Malgun Gothic"/>
                <a:cs typeface="+mn-lt"/>
              </a:rPr>
              <a:t>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임베딩</a:t>
            </a:r>
            <a:r>
              <a:rPr lang="ko-KR" sz="1600">
                <a:latin typeface="Malgun Gothic"/>
                <a:ea typeface="Malgun Gothic"/>
                <a:cs typeface="+mn-lt"/>
              </a:rPr>
              <a:t>(128)과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concat</a:t>
            </a:r>
            <a:endParaRPr lang="ko-KR">
              <a:latin typeface="Malgun Gothic"/>
              <a:ea typeface="Malgun Gothic"/>
            </a:endParaRPr>
          </a:p>
          <a:p>
            <a:pPr lvl="1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ko-KR" sz="1600" err="1">
                <a:latin typeface="Malgun Gothic"/>
                <a:ea typeface="Malgun Gothic"/>
              </a:rPr>
              <a:t>Linear</a:t>
            </a:r>
            <a:r>
              <a:rPr lang="ko-KR" sz="1600">
                <a:latin typeface="Malgun Gothic"/>
                <a:ea typeface="Malgun Gothic"/>
              </a:rPr>
              <a:t>(32*8*8 + 128 → </a:t>
            </a:r>
            <a:r>
              <a:rPr lang="en-US" altLang="ko-KR" sz="1600">
                <a:latin typeface="Malgun Gothic"/>
                <a:ea typeface="맑은 고딕"/>
              </a:rPr>
              <a:t>320)</a:t>
            </a:r>
            <a:r>
              <a:rPr lang="ko-KR" sz="1600">
                <a:latin typeface="Malgun Gothic"/>
                <a:ea typeface="Malgun Gothic"/>
                <a:cs typeface="+mn-lt"/>
              </a:rPr>
              <a:t> → 각 행동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logit</a:t>
            </a:r>
            <a:r>
              <a:rPr lang="ko-KR" sz="1600">
                <a:latin typeface="Malgun Gothic"/>
                <a:ea typeface="Malgun Gothic"/>
                <a:cs typeface="+mn-lt"/>
              </a:rPr>
              <a:t> 출력  </a:t>
            </a:r>
            <a:r>
              <a:rPr lang="en-US" altLang="ko-KR" sz="1600">
                <a:latin typeface="Malgun Gothic"/>
                <a:ea typeface="+mn-lt"/>
                <a:cs typeface="+mn-lt"/>
              </a:rPr>
              <a:t>(320은 action </a:t>
            </a:r>
            <a:r>
              <a:rPr lang="en-US" altLang="ko-KR" sz="1600" err="1">
                <a:latin typeface="Malgun Gothic"/>
                <a:ea typeface="+mn-lt"/>
                <a:cs typeface="+mn-lt"/>
              </a:rPr>
              <a:t>space의</a:t>
            </a:r>
            <a:r>
              <a:rPr lang="en-US" altLang="ko-KR" sz="1600">
                <a:latin typeface="Malgun Gothic"/>
                <a:ea typeface="+mn-lt"/>
                <a:cs typeface="+mn-lt"/>
              </a:rPr>
              <a:t> </a:t>
            </a:r>
            <a:r>
              <a:rPr lang="en-US" altLang="ko-KR" sz="1600" err="1">
                <a:latin typeface="Malgun Gothic"/>
                <a:ea typeface="+mn-lt"/>
                <a:cs typeface="+mn-lt"/>
              </a:rPr>
              <a:t>크기</a:t>
            </a:r>
            <a:r>
              <a:rPr lang="en-US" altLang="ko-KR" sz="1600">
                <a:latin typeface="Malgun Gothic"/>
                <a:ea typeface="+mn-lt"/>
                <a:cs typeface="+mn-lt"/>
              </a:rPr>
              <a:t>)</a:t>
            </a:r>
            <a:endParaRPr lang="ko-KR">
              <a:latin typeface="Malgun Gothic"/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endParaRPr lang="ko-KR" altLang="en-US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55981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5694-2FA5-F40E-0B52-5A7652ED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09311-93C7-F086-AC16-B941DFAE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>
                <a:ea typeface="맑은 고딕"/>
              </a:rPr>
              <a:t>Agent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Architecture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12AA0-8D9A-4B13-2391-45D74F7C3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 sz="20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 sz="2000" b="1">
                <a:ea typeface="+mn-lt"/>
                <a:cs typeface="+mn-lt"/>
              </a:rPr>
              <a:t>가치 헤드 (</a:t>
            </a:r>
            <a:r>
              <a:rPr lang="ko-KR" sz="2000" b="1" err="1">
                <a:ea typeface="+mn-lt"/>
                <a:cs typeface="+mn-lt"/>
              </a:rPr>
              <a:t>Critic</a:t>
            </a:r>
            <a:r>
              <a:rPr lang="ko-KR" sz="2000" b="1">
                <a:ea typeface="+mn-lt"/>
                <a:cs typeface="+mn-lt"/>
              </a:rPr>
              <a:t>)</a:t>
            </a:r>
            <a:endParaRPr lang="ko-KR" altLang="en-US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  <a:cs typeface="+mn-lt"/>
              </a:rPr>
              <a:t>보드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feature에</a:t>
            </a:r>
            <a:r>
              <a:rPr lang="ko-KR" sz="1600">
                <a:latin typeface="Malgun Gothic"/>
                <a:ea typeface="Malgun Gothic"/>
                <a:cs typeface="+mn-lt"/>
              </a:rPr>
              <a:t> </a:t>
            </a:r>
            <a:r>
              <a:rPr lang="ko-KR" sz="1600">
                <a:latin typeface="Malgun Gothic"/>
                <a:ea typeface="Malgun Gothic"/>
              </a:rPr>
              <a:t>Conv2d(128 → 8, 1×1)</a:t>
            </a:r>
            <a:r>
              <a:rPr lang="ko-KR" sz="1600">
                <a:latin typeface="Malgun Gothic"/>
                <a:ea typeface="Malgun Gothic"/>
                <a:cs typeface="+mn-lt"/>
              </a:rPr>
              <a:t> + </a:t>
            </a:r>
            <a:r>
              <a:rPr lang="en-US" altLang="ko-KR" sz="1600">
                <a:latin typeface="Malgun Gothic"/>
                <a:ea typeface="+mn-lt"/>
                <a:cs typeface="+mn-lt"/>
              </a:rPr>
              <a:t>BN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 </a:t>
            </a:r>
            <a:r>
              <a:rPr lang="ko-KR" sz="1600">
                <a:latin typeface="Malgun Gothic"/>
                <a:ea typeface="Malgun Gothic"/>
                <a:cs typeface="+mn-lt"/>
              </a:rPr>
              <a:t>+ </a:t>
            </a:r>
            <a:r>
              <a:rPr lang="en-US" altLang="ko-KR" sz="1600" err="1">
                <a:latin typeface="Malgun Gothic"/>
                <a:ea typeface="+mn-lt"/>
                <a:cs typeface="+mn-lt"/>
              </a:rPr>
              <a:t>ReLU</a:t>
            </a:r>
            <a:endParaRPr lang="ko-KR" altLang="en-US" sz="1600">
              <a:latin typeface="Malgun Gothic"/>
              <a:ea typeface="Malgun Gothic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sz="1600">
                <a:latin typeface="Malgun Gothic"/>
                <a:ea typeface="+mn-lt"/>
                <a:cs typeface="+mn-lt"/>
              </a:rPr>
              <a:t>Flatten</a:t>
            </a:r>
            <a:r>
              <a:rPr lang="ko-KR" sz="1600">
                <a:latin typeface="Malgun Gothic"/>
                <a:ea typeface="Malgun Gothic"/>
                <a:cs typeface="+mn-lt"/>
              </a:rPr>
              <a:t>(8×8×8) 후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손패</a:t>
            </a:r>
            <a:r>
              <a:rPr lang="ko-KR" sz="1600">
                <a:latin typeface="Malgun Gothic"/>
                <a:ea typeface="Malgun Gothic"/>
                <a:cs typeface="+mn-lt"/>
              </a:rPr>
              <a:t>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임베딩과</a:t>
            </a:r>
            <a:r>
              <a:rPr lang="ko-KR" sz="160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err="1">
                <a:latin typeface="Malgun Gothic"/>
                <a:ea typeface="+mn-lt"/>
                <a:cs typeface="+mn-lt"/>
              </a:rPr>
              <a:t>concat</a:t>
            </a:r>
            <a:endParaRPr lang="ko-KR" altLang="en-US" sz="1600">
              <a:latin typeface="Malgun Gothic"/>
              <a:ea typeface="Malgun Gothic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sz="1600">
                <a:latin typeface="Malgun Gothic"/>
                <a:ea typeface="+mn-lt"/>
                <a:cs typeface="+mn-lt"/>
              </a:rPr>
              <a:t>Linear</a:t>
            </a:r>
            <a:r>
              <a:rPr lang="ko-KR" sz="1600">
                <a:latin typeface="Malgun Gothic"/>
                <a:ea typeface="Malgun Gothic"/>
              </a:rPr>
              <a:t>(8*8*8 + 128 → 256)</a:t>
            </a:r>
            <a:r>
              <a:rPr lang="ko-KR" sz="1600">
                <a:latin typeface="Malgun Gothic"/>
                <a:ea typeface="Malgun Gothic"/>
                <a:cs typeface="+mn-lt"/>
              </a:rPr>
              <a:t> +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ReLU</a:t>
            </a:r>
            <a:r>
              <a:rPr lang="ko-KR" sz="1600">
                <a:latin typeface="Malgun Gothic"/>
                <a:ea typeface="Malgun Gothic"/>
                <a:cs typeface="+mn-lt"/>
              </a:rPr>
              <a:t> → </a:t>
            </a:r>
            <a:r>
              <a:rPr lang="ko-KR" sz="1600" err="1">
                <a:latin typeface="Malgun Gothic"/>
                <a:ea typeface="Malgun Gothic"/>
              </a:rPr>
              <a:t>Linear</a:t>
            </a:r>
            <a:r>
              <a:rPr lang="ko-KR" sz="1600">
                <a:latin typeface="Malgun Gothic"/>
                <a:ea typeface="Malgun Gothic"/>
              </a:rPr>
              <a:t>(256 → 1)</a:t>
            </a:r>
            <a:r>
              <a:rPr lang="ko-KR" sz="1600">
                <a:latin typeface="Malgun Gothic"/>
                <a:ea typeface="Malgun Gothic"/>
                <a:cs typeface="+mn-lt"/>
              </a:rPr>
              <a:t> →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V</a:t>
            </a:r>
            <a:r>
              <a:rPr lang="ko-KR" sz="1600">
                <a:latin typeface="Malgun Gothic"/>
                <a:ea typeface="Malgun Gothic"/>
                <a:cs typeface="+mn-lt"/>
              </a:rPr>
              <a:t>(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s</a:t>
            </a:r>
            <a:r>
              <a:rPr lang="ko-KR" sz="1600">
                <a:latin typeface="Malgun Gothic"/>
                <a:ea typeface="Malgun Gothic"/>
                <a:cs typeface="+mn-lt"/>
              </a:rPr>
              <a:t>)</a:t>
            </a:r>
          </a:p>
          <a:p>
            <a:endParaRPr lang="ko-KR" altLang="en-US" sz="2000" b="1">
              <a:ea typeface="+mn-lt"/>
              <a:cs typeface="+mn-lt"/>
            </a:endParaRPr>
          </a:p>
          <a:p>
            <a:endParaRPr lang="ko-KR" altLang="en-US" sz="20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 sz="2000" b="1">
                <a:ea typeface="+mn-lt"/>
                <a:cs typeface="+mn-lt"/>
              </a:rPr>
              <a:t>보조 </a:t>
            </a:r>
            <a:r>
              <a:rPr lang="ko-KR" sz="2000" b="1" err="1">
                <a:ea typeface="+mn-lt"/>
                <a:cs typeface="+mn-lt"/>
              </a:rPr>
              <a:t>Δ</a:t>
            </a:r>
            <a:r>
              <a:rPr lang="ko-KR" sz="2000" b="1">
                <a:ea typeface="+mn-lt"/>
                <a:cs typeface="+mn-lt"/>
              </a:rPr>
              <a:t> 헤드 (</a:t>
            </a:r>
            <a:r>
              <a:rPr lang="ko-KR" sz="2000" b="1" err="1">
                <a:ea typeface="+mn-lt"/>
                <a:cs typeface="+mn-lt"/>
              </a:rPr>
              <a:t>delta_head</a:t>
            </a:r>
            <a:r>
              <a:rPr lang="ko-KR" sz="2000" b="1">
                <a:ea typeface="+mn-lt"/>
                <a:cs typeface="+mn-lt"/>
              </a:rPr>
              <a:t>)</a:t>
            </a:r>
            <a:endParaRPr lang="ko-KR" altLang="en-US">
              <a:ea typeface="맑은 고딕" panose="020B0503020000020004" pitchFamily="34" charset="-127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  <a:cs typeface="+mn-lt"/>
              </a:rPr>
              <a:t>정책 입력(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feature</a:t>
            </a:r>
            <a:r>
              <a:rPr lang="ko-KR" sz="1600">
                <a:latin typeface="Malgun Gothic"/>
                <a:ea typeface="Malgun Gothic"/>
                <a:cs typeface="+mn-lt"/>
              </a:rPr>
              <a:t>)을 다시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MLP에</a:t>
            </a:r>
            <a:r>
              <a:rPr lang="ko-KR" sz="1600">
                <a:latin typeface="Malgun Gothic"/>
                <a:ea typeface="Malgun Gothic"/>
                <a:cs typeface="+mn-lt"/>
              </a:rPr>
              <a:t> 통과</a:t>
            </a:r>
            <a:endParaRPr lang="ko-KR" altLang="en-US" sz="1600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1600" err="1">
                <a:latin typeface="Malgun Gothic"/>
                <a:ea typeface="Malgun Gothic"/>
              </a:rPr>
              <a:t>Linear</a:t>
            </a:r>
            <a:r>
              <a:rPr lang="ko-KR" sz="1600">
                <a:latin typeface="Malgun Gothic"/>
                <a:ea typeface="Malgun Gothic"/>
              </a:rPr>
              <a:t>(</a:t>
            </a:r>
            <a:r>
              <a:rPr lang="ko-KR" sz="1600" err="1">
                <a:latin typeface="Malgun Gothic"/>
                <a:ea typeface="Malgun Gothic"/>
              </a:rPr>
              <a:t>actor_in_dim</a:t>
            </a:r>
            <a:r>
              <a:rPr lang="ko-KR" sz="1600">
                <a:latin typeface="Malgun Gothic"/>
                <a:ea typeface="Malgun Gothic"/>
              </a:rPr>
              <a:t> → </a:t>
            </a:r>
            <a:r>
              <a:rPr lang="ko-KR" sz="1600" err="1">
                <a:latin typeface="Malgun Gothic"/>
                <a:ea typeface="Malgun Gothic"/>
              </a:rPr>
              <a:t>actor_in_dim</a:t>
            </a:r>
            <a:r>
              <a:rPr lang="ko-KR" sz="1600">
                <a:latin typeface="Malgun Gothic"/>
                <a:ea typeface="Malgun Gothic"/>
              </a:rPr>
              <a:t>)</a:t>
            </a:r>
            <a:r>
              <a:rPr lang="ko-KR" sz="1600">
                <a:latin typeface="Malgun Gothic"/>
                <a:ea typeface="Malgun Gothic"/>
                <a:cs typeface="+mn-lt"/>
              </a:rPr>
              <a:t> + </a:t>
            </a:r>
            <a:r>
              <a:rPr lang="en-US" altLang="ko-KR" sz="1600" err="1">
                <a:latin typeface="Malgun Gothic"/>
                <a:ea typeface="+mn-lt"/>
                <a:cs typeface="+mn-lt"/>
              </a:rPr>
              <a:t>ReLU</a:t>
            </a:r>
            <a:endParaRPr lang="ko-KR" altLang="en-US" sz="1600">
              <a:latin typeface="Malgun Gothic"/>
              <a:ea typeface="Malgun Gothic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sz="1600">
                <a:latin typeface="Malgun Gothic"/>
                <a:ea typeface="+mn-lt"/>
                <a:cs typeface="+mn-lt"/>
              </a:rPr>
              <a:t>Linear</a:t>
            </a:r>
            <a:r>
              <a:rPr lang="ko-KR" sz="1600">
                <a:latin typeface="Malgun Gothic"/>
                <a:ea typeface="Malgun Gothic"/>
              </a:rPr>
              <a:t>(</a:t>
            </a:r>
            <a:r>
              <a:rPr lang="ko-KR" sz="1600" err="1">
                <a:latin typeface="Malgun Gothic"/>
                <a:ea typeface="Malgun Gothic"/>
              </a:rPr>
              <a:t>actor_in_dim</a:t>
            </a:r>
            <a:r>
              <a:rPr lang="ko-KR" sz="1600">
                <a:latin typeface="Malgun Gothic"/>
                <a:ea typeface="Malgun Gothic"/>
              </a:rPr>
              <a:t> → </a:t>
            </a:r>
            <a:r>
              <a:rPr lang="ko-KR" sz="1600" err="1">
                <a:latin typeface="Malgun Gothic"/>
                <a:ea typeface="Malgun Gothic"/>
              </a:rPr>
              <a:t>act_dim</a:t>
            </a:r>
            <a:r>
              <a:rPr lang="ko-KR" sz="1600">
                <a:latin typeface="Malgun Gothic"/>
                <a:ea typeface="Malgun Gothic"/>
              </a:rPr>
              <a:t>)</a:t>
            </a:r>
            <a:r>
              <a:rPr lang="ko-KR" sz="1600">
                <a:latin typeface="Malgun Gothic"/>
                <a:ea typeface="Malgun Gothic"/>
                <a:cs typeface="+mn-lt"/>
              </a:rPr>
              <a:t> +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Tanh</a:t>
            </a:r>
            <a:endParaRPr lang="ko-KR" altLang="en-US" sz="1600" err="1">
              <a:latin typeface="Malgun Gothic"/>
              <a:ea typeface="Malgun Gothic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ko-KR" sz="1600">
                <a:ea typeface="+mn-lt"/>
                <a:cs typeface="+mn-lt"/>
              </a:rPr>
              <a:t>각 행동별 예상 점수 </a:t>
            </a:r>
            <a:r>
              <a:rPr lang="ko-KR" altLang="en-US" sz="1600">
                <a:ea typeface="+mn-lt"/>
                <a:cs typeface="+mn-lt"/>
              </a:rPr>
              <a:t>변화를</a:t>
            </a:r>
            <a:r>
              <a:rPr lang="ko-KR" sz="1600">
                <a:ea typeface="+mn-lt"/>
                <a:cs typeface="+mn-lt"/>
              </a:rPr>
              <a:t> </a:t>
            </a:r>
            <a:r>
              <a:rPr lang="en-US" altLang="ko-KR" sz="1600">
                <a:ea typeface="+mn-lt"/>
                <a:cs typeface="+mn-lt"/>
              </a:rPr>
              <a:t>Tanh </a:t>
            </a:r>
            <a:r>
              <a:rPr lang="en-US" altLang="ko-KR" sz="1600" err="1">
                <a:ea typeface="+mn-lt"/>
                <a:cs typeface="+mn-lt"/>
              </a:rPr>
              <a:t>함수에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en-US" altLang="ko-KR" sz="1600" err="1">
                <a:ea typeface="+mn-lt"/>
                <a:cs typeface="+mn-lt"/>
              </a:rPr>
              <a:t>넣어</a:t>
            </a:r>
            <a:r>
              <a:rPr lang="en-US" altLang="ko-KR" sz="1600">
                <a:ea typeface="+mn-lt"/>
                <a:cs typeface="+mn-lt"/>
              </a:rPr>
              <a:t> </a:t>
            </a:r>
            <a:r>
              <a:rPr lang="ko-KR" sz="1600">
                <a:ea typeface="+mn-lt"/>
                <a:cs typeface="+mn-lt"/>
              </a:rPr>
              <a:t>[-1, 1] 구간으로 예측</a:t>
            </a:r>
            <a:endParaRPr lang="ko-KR">
              <a:ea typeface="맑은 고딕"/>
            </a:endParaRPr>
          </a:p>
          <a:p>
            <a:endParaRPr lang="ko-KR" altLang="en-US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7204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6570-FDDA-1554-B3CE-CED9D03F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26195-D8E0-956B-B3D6-D000B1F6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 예시 로그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9830C3-0D25-814B-D162-37D1A33EC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아래와 같은 </a:t>
            </a:r>
            <a:r>
              <a:rPr lang="ko-KR" altLang="en-US" err="1">
                <a:ea typeface="맑은 고딕"/>
              </a:rPr>
              <a:t>gui</a:t>
            </a:r>
            <a:r>
              <a:rPr lang="ko-KR" altLang="en-US">
                <a:ea typeface="맑은 고딕"/>
              </a:rPr>
              <a:t> 환경에서 </a:t>
            </a:r>
            <a:r>
              <a:rPr lang="ko-KR" altLang="en-US" err="1">
                <a:ea typeface="맑은 고딕"/>
              </a:rPr>
              <a:t>agent와의</a:t>
            </a:r>
            <a:r>
              <a:rPr lang="ko-KR" altLang="en-US">
                <a:ea typeface="맑은 고딕"/>
              </a:rPr>
              <a:t> 여러 게임 결과를 확인할 수 있다.</a:t>
            </a:r>
          </a:p>
          <a:p>
            <a:endParaRPr lang="ko-KR" altLang="en-US">
              <a:ea typeface="맑은 고딕"/>
            </a:endParaRPr>
          </a:p>
        </p:txBody>
      </p:sp>
      <p:pic>
        <p:nvPicPr>
          <p:cNvPr id="4" name="Random_Win">
            <a:hlinkClick r:id="" action="ppaction://media"/>
            <a:extLst>
              <a:ext uri="{FF2B5EF4-FFF2-40B4-BE49-F238E27FC236}">
                <a16:creationId xmlns:a16="http://schemas.microsoft.com/office/drawing/2014/main" id="{12F94216-4684-438A-CE07-4D88A0154A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8794" y="3534769"/>
            <a:ext cx="4442512" cy="29388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D2A2CC-17D8-C70E-FFA5-338CB1A8AD22}"/>
              </a:ext>
            </a:extLst>
          </p:cNvPr>
          <p:cNvSpPr txBox="1"/>
          <p:nvPr/>
        </p:nvSpPr>
        <p:spPr>
          <a:xfrm>
            <a:off x="1464697" y="3027441"/>
            <a:ext cx="33187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랜덤 </a:t>
            </a:r>
            <a:r>
              <a:rPr lang="ko-KR" altLang="en-US" err="1">
                <a:ea typeface="맑은 고딕"/>
              </a:rPr>
              <a:t>agent와의</a:t>
            </a:r>
            <a:r>
              <a:rPr lang="ko-KR" altLang="en-US">
                <a:ea typeface="맑은 고딕"/>
              </a:rPr>
              <a:t> 승리 로그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A0632-AA0A-8624-EAD8-8B3A287F4DBC}"/>
              </a:ext>
            </a:extLst>
          </p:cNvPr>
          <p:cNvSpPr txBox="1"/>
          <p:nvPr/>
        </p:nvSpPr>
        <p:spPr>
          <a:xfrm>
            <a:off x="5639709" y="3709193"/>
            <a:ext cx="583533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랜덤 </a:t>
            </a:r>
            <a:r>
              <a:rPr lang="ko-KR" altLang="en-US" err="1">
                <a:ea typeface="맑은 고딕"/>
              </a:rPr>
              <a:t>agent는</a:t>
            </a:r>
            <a:r>
              <a:rPr lang="ko-KR" altLang="en-US">
                <a:ea typeface="맑은 고딕"/>
              </a:rPr>
              <a:t> 게임의 전략을 전혀 학습하지 못해 같은 색의 타일을 연결하지 않고, PPO </a:t>
            </a:r>
            <a:r>
              <a:rPr lang="ko-KR" altLang="en-US" err="1">
                <a:ea typeface="맑은 고딕"/>
              </a:rPr>
              <a:t>agent는</a:t>
            </a:r>
            <a:r>
              <a:rPr lang="ko-KR" altLang="en-US">
                <a:ea typeface="맑은 고딕"/>
              </a:rPr>
              <a:t> 같은 문양을 연결하는 전략을 통해 큰 점수차로 이기는 모습을 보여주고 있다.</a:t>
            </a:r>
          </a:p>
        </p:txBody>
      </p:sp>
    </p:spTree>
    <p:extLst>
      <p:ext uri="{BB962C8B-B14F-4D97-AF65-F5344CB8AC3E}">
        <p14:creationId xmlns:p14="http://schemas.microsoft.com/office/powerpoint/2010/main" val="423274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FC08-FD2F-F3F8-40DE-985BD4FC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19471-802E-2440-CD24-F2A0A6A2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 예시 로그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6E1537-A594-661F-2DE0-9EC451B1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F828C-29A5-7008-C801-4C4C0E905F32}"/>
              </a:ext>
            </a:extLst>
          </p:cNvPr>
          <p:cNvSpPr txBox="1"/>
          <p:nvPr/>
        </p:nvSpPr>
        <p:spPr>
          <a:xfrm>
            <a:off x="1006258" y="1534416"/>
            <a:ext cx="33187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샘플 </a:t>
            </a:r>
            <a:r>
              <a:rPr lang="ko-KR" altLang="en-US" err="1">
                <a:ea typeface="맑은 고딕"/>
              </a:rPr>
              <a:t>agent와의</a:t>
            </a:r>
            <a:r>
              <a:rPr lang="ko-KR" altLang="en-US">
                <a:ea typeface="맑은 고딕"/>
              </a:rPr>
              <a:t> 승리 로그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464AE-A32F-6424-177E-04FE7D056226}"/>
              </a:ext>
            </a:extLst>
          </p:cNvPr>
          <p:cNvSpPr txBox="1"/>
          <p:nvPr/>
        </p:nvSpPr>
        <p:spPr>
          <a:xfrm>
            <a:off x="2944832" y="5115486"/>
            <a:ext cx="58353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샘플 </a:t>
            </a:r>
            <a:r>
              <a:rPr lang="ko-KR" altLang="en-US" err="1">
                <a:ea typeface="맑은 고딕"/>
              </a:rPr>
              <a:t>agent는</a:t>
            </a:r>
            <a:r>
              <a:rPr lang="ko-KR" altLang="en-US">
                <a:ea typeface="맑은 고딕"/>
              </a:rPr>
              <a:t> 현재 둘 수 있는 수 중 가장 점수가 높은 수를 둔다. 그 수가 장기적인 관점에서 손해를 보는지 여부는 판단하지 않는다.</a:t>
            </a:r>
          </a:p>
        </p:txBody>
      </p:sp>
      <p:pic>
        <p:nvPicPr>
          <p:cNvPr id="7" name="SampleWin">
            <a:hlinkClick r:id="" action="ppaction://media"/>
            <a:extLst>
              <a:ext uri="{FF2B5EF4-FFF2-40B4-BE49-F238E27FC236}">
                <a16:creationId xmlns:a16="http://schemas.microsoft.com/office/drawing/2014/main" id="{A8144D1E-2D0F-4D16-A25A-F638E247D3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3402" y="2005361"/>
            <a:ext cx="4435900" cy="2853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642ACA-FB3C-3A53-AE6D-9E41E436257C}"/>
              </a:ext>
            </a:extLst>
          </p:cNvPr>
          <p:cNvSpPr txBox="1"/>
          <p:nvPr/>
        </p:nvSpPr>
        <p:spPr>
          <a:xfrm>
            <a:off x="7343867" y="1509635"/>
            <a:ext cx="33187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샘플 </a:t>
            </a:r>
            <a:r>
              <a:rPr lang="ko-KR" altLang="en-US" err="1">
                <a:ea typeface="맑은 고딕"/>
              </a:rPr>
              <a:t>agent와의</a:t>
            </a:r>
            <a:r>
              <a:rPr lang="ko-KR" altLang="en-US">
                <a:ea typeface="맑은 고딕"/>
              </a:rPr>
              <a:t> 패배 로그</a:t>
            </a:r>
            <a:endParaRPr lang="ko-KR" altLang="en-US"/>
          </a:p>
        </p:txBody>
      </p:sp>
      <p:pic>
        <p:nvPicPr>
          <p:cNvPr id="9" name="SampleLose">
            <a:hlinkClick r:id="" action="ppaction://media"/>
            <a:extLst>
              <a:ext uri="{FF2B5EF4-FFF2-40B4-BE49-F238E27FC236}">
                <a16:creationId xmlns:a16="http://schemas.microsoft.com/office/drawing/2014/main" id="{B44E4C0C-E9AC-DC91-DDED-9DE533801C3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72894" y="2005360"/>
            <a:ext cx="3869629" cy="282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4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1DF5-A4DB-DE5B-E595-F19B0424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96937-D7D8-A862-671F-927ADF74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 예시 로그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2DD81F-650B-E2BC-010E-E9987973C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53411-3BC3-9F08-5DFE-2B0BA4A8AEDB}"/>
              </a:ext>
            </a:extLst>
          </p:cNvPr>
          <p:cNvSpPr txBox="1"/>
          <p:nvPr/>
        </p:nvSpPr>
        <p:spPr>
          <a:xfrm>
            <a:off x="1006258" y="1534416"/>
            <a:ext cx="33187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휴리스틱 </a:t>
            </a:r>
            <a:r>
              <a:rPr lang="ko-KR" altLang="en-US" err="1">
                <a:ea typeface="맑은 고딕"/>
              </a:rPr>
              <a:t>agent와의</a:t>
            </a:r>
            <a:r>
              <a:rPr lang="ko-KR" altLang="en-US">
                <a:ea typeface="맑은 고딕"/>
              </a:rPr>
              <a:t> 승리 로그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811B0-E553-2A42-F53F-978A820C01E9}"/>
              </a:ext>
            </a:extLst>
          </p:cNvPr>
          <p:cNvSpPr txBox="1"/>
          <p:nvPr/>
        </p:nvSpPr>
        <p:spPr>
          <a:xfrm>
            <a:off x="2944832" y="5115486"/>
            <a:ext cx="58353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휴리스틱 </a:t>
            </a:r>
            <a:r>
              <a:rPr lang="ko-KR" altLang="en-US" err="1">
                <a:ea typeface="맑은 고딕"/>
              </a:rPr>
              <a:t>agent는</a:t>
            </a:r>
            <a:r>
              <a:rPr lang="ko-KR" altLang="en-US">
                <a:ea typeface="맑은 고딕"/>
              </a:rPr>
              <a:t> 여러 가지 평가 지표와 </a:t>
            </a:r>
            <a:r>
              <a:rPr lang="ko-KR" altLang="en-US" err="1">
                <a:ea typeface="맑은 고딕"/>
              </a:rPr>
              <a:t>minimax</a:t>
            </a:r>
            <a:r>
              <a:rPr lang="ko-KR" altLang="en-US">
                <a:ea typeface="맑은 고딕"/>
              </a:rPr>
              <a:t> 알고리즘이 적용하여 판단해 가치가 높은 수를 둔다.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9F1C8-A87A-6EF6-D991-033800E58333}"/>
              </a:ext>
            </a:extLst>
          </p:cNvPr>
          <p:cNvSpPr txBox="1"/>
          <p:nvPr/>
        </p:nvSpPr>
        <p:spPr>
          <a:xfrm>
            <a:off x="7343867" y="1509635"/>
            <a:ext cx="33187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휴리스틱 </a:t>
            </a:r>
            <a:r>
              <a:rPr lang="ko-KR" altLang="en-US" err="1">
                <a:ea typeface="맑은 고딕"/>
              </a:rPr>
              <a:t>agent와의</a:t>
            </a:r>
            <a:r>
              <a:rPr lang="ko-KR" altLang="en-US">
                <a:ea typeface="맑은 고딕"/>
              </a:rPr>
              <a:t> 패배 로그</a:t>
            </a:r>
            <a:endParaRPr lang="ko-KR" altLang="en-US"/>
          </a:p>
        </p:txBody>
      </p:sp>
      <p:pic>
        <p:nvPicPr>
          <p:cNvPr id="4" name="StrongLose">
            <a:hlinkClick r:id="" action="ppaction://media"/>
            <a:extLst>
              <a:ext uri="{FF2B5EF4-FFF2-40B4-BE49-F238E27FC236}">
                <a16:creationId xmlns:a16="http://schemas.microsoft.com/office/drawing/2014/main" id="{438C4066-05DB-1527-24E9-B908720466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705367" y="2005360"/>
            <a:ext cx="4381656" cy="2940206"/>
          </a:xfrm>
          <a:prstGeom prst="rect">
            <a:avLst/>
          </a:prstGeom>
        </p:spPr>
      </p:pic>
      <p:pic>
        <p:nvPicPr>
          <p:cNvPr id="10" name="StrongWin">
            <a:hlinkClick r:id="" action="ppaction://media"/>
            <a:extLst>
              <a:ext uri="{FF2B5EF4-FFF2-40B4-BE49-F238E27FC236}">
                <a16:creationId xmlns:a16="http://schemas.microsoft.com/office/drawing/2014/main" id="{7DDF0D5F-D9EB-4279-0509-2E47D5BAA22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9465" y="2005361"/>
            <a:ext cx="4009949" cy="26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4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1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E84A1-4A56-371B-A6C0-FDDB658B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</a:t>
            </a:r>
            <a:endParaRPr lang="ko-KR" alt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9907522-C10C-91C8-3095-94C8037E7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206186"/>
              </p:ext>
            </p:extLst>
          </p:nvPr>
        </p:nvGraphicFramePr>
        <p:xfrm>
          <a:off x="3238500" y="3731559"/>
          <a:ext cx="5707719" cy="20930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2573">
                  <a:extLst>
                    <a:ext uri="{9D8B030D-6E8A-4147-A177-3AD203B41FA5}">
                      <a16:colId xmlns:a16="http://schemas.microsoft.com/office/drawing/2014/main" val="3908327659"/>
                    </a:ext>
                  </a:extLst>
                </a:gridCol>
                <a:gridCol w="1902573">
                  <a:extLst>
                    <a:ext uri="{9D8B030D-6E8A-4147-A177-3AD203B41FA5}">
                      <a16:colId xmlns:a16="http://schemas.microsoft.com/office/drawing/2014/main" val="3837549150"/>
                    </a:ext>
                  </a:extLst>
                </a:gridCol>
                <a:gridCol w="1902573">
                  <a:extLst>
                    <a:ext uri="{9D8B030D-6E8A-4147-A177-3AD203B41FA5}">
                      <a16:colId xmlns:a16="http://schemas.microsoft.com/office/drawing/2014/main" val="3216669354"/>
                    </a:ext>
                  </a:extLst>
                </a:gridCol>
              </a:tblGrid>
              <a:tr h="523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상대 에이전트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승률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평균 점수 차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56972"/>
                  </a:ext>
                </a:extLst>
              </a:tr>
              <a:tr h="523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/>
                        <a:t>Random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+232.34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669085"/>
                  </a:ext>
                </a:extLst>
              </a:tr>
              <a:tr h="523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/>
                        <a:t>Sample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+40.28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65773"/>
                  </a:ext>
                </a:extLst>
              </a:tr>
              <a:tr h="523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err="1"/>
                        <a:t>Hueristic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-30.14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09517"/>
                  </a:ext>
                </a:extLst>
              </a:tr>
            </a:tbl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8E5ED85-0279-C43C-88BC-671E067CFC5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153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ea typeface="+mn-lt"/>
                <a:cs typeface="+mn-lt"/>
              </a:rPr>
              <a:t>PPO로 학습한 agent와 위에서 설명한 세 종류의 opponent agent와 각 100판 씩 대결한 결과이다.</a:t>
            </a:r>
            <a:endParaRPr lang="ko-KR" altLang="en-US" sz="2000" dirty="0">
              <a:ea typeface="+mn-lt"/>
              <a:cs typeface="+mn-lt"/>
            </a:endParaRPr>
          </a:p>
          <a:p>
            <a:endParaRPr lang="ko-KR" altLang="en-US" sz="2000" dirty="0">
              <a:ea typeface="+mn-lt"/>
              <a:cs typeface="+mn-lt"/>
            </a:endParaRPr>
          </a:p>
          <a:p>
            <a:endParaRPr lang="ko-KR" altLang="en-US" sz="2000" dirty="0">
              <a:latin typeface="맑은 고딕" panose="020F0502020204030204"/>
              <a:ea typeface="맑은 고딕"/>
            </a:endParaRPr>
          </a:p>
          <a:p>
            <a:endParaRPr lang="ko-KR" altLang="en-US" sz="2000" dirty="0">
              <a:latin typeface="맑은 고딕" panose="020F0502020204030204"/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latin typeface="맑은 고딕" panose="020F0502020204030204"/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1600">
              <a:latin typeface="맑은 고딕" panose="020F0502020204030204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13585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153BA-928F-1086-C2BE-9D1124723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PPO vs Random agent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7866CE82-C812-93B5-67FD-F3C384E149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3440598"/>
              </p:ext>
            </p:extLst>
          </p:nvPr>
        </p:nvGraphicFramePr>
        <p:xfrm>
          <a:off x="631903" y="1690264"/>
          <a:ext cx="7304048" cy="4797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266A7E-122D-576D-61BF-F207C608D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185" b="1124"/>
          <a:stretch>
            <a:fillRect/>
          </a:stretch>
        </p:blipFill>
        <p:spPr>
          <a:xfrm>
            <a:off x="8071167" y="5561724"/>
            <a:ext cx="3578140" cy="81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32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9FED1-E6D0-52E7-ECCD-BB25BF99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PPO </a:t>
            </a:r>
            <a:r>
              <a:rPr lang="ko-KR" altLang="en-US" dirty="0" err="1">
                <a:ea typeface="맑은 고딕"/>
              </a:rPr>
              <a:t>vs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Sample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agent</a:t>
            </a: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328A7A69-68E5-AE94-C99E-C261BAFE42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6428486"/>
              </p:ext>
            </p:extLst>
          </p:nvPr>
        </p:nvGraphicFramePr>
        <p:xfrm>
          <a:off x="446049" y="1346434"/>
          <a:ext cx="7917366" cy="5243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그림 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660CDB-F3B8-E265-84EC-E75F5CC67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535" y="4785754"/>
            <a:ext cx="29432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14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FFD07-E1BC-6C64-1103-E4CFC9E5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41DC1-EF80-7822-E9A3-8AD3C3DB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PPO </a:t>
            </a:r>
            <a:r>
              <a:rPr lang="ko-KR" altLang="en-US" err="1">
                <a:ea typeface="맑은 고딕"/>
              </a:rPr>
              <a:t>vs</a:t>
            </a:r>
            <a:r>
              <a:rPr lang="ko-KR" altLang="en-US">
                <a:ea typeface="맑은 고딕"/>
              </a:rPr>
              <a:t> Heuristic agent</a:t>
            </a: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DF01FDF2-57D1-A329-B1F1-E7E59768C0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8083151"/>
              </p:ext>
            </p:extLst>
          </p:nvPr>
        </p:nvGraphicFramePr>
        <p:xfrm>
          <a:off x="446049" y="1346434"/>
          <a:ext cx="7917366" cy="5243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그림 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320C20-B360-155C-2A06-D0454646D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71" y="5201771"/>
            <a:ext cx="3352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54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2FF8-52B6-6D80-3B1F-7B333AB6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PPO </a:t>
            </a:r>
            <a:r>
              <a:rPr lang="ko-KR" altLang="en-US" err="1">
                <a:ea typeface="맑은 고딕"/>
              </a:rPr>
              <a:t>Loss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for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training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F8D4B6-003C-45F6-CC6B-80BB40164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>
                <a:ea typeface="맑은 고딕"/>
              </a:rPr>
              <a:t>10,000 </a:t>
            </a:r>
            <a:r>
              <a:rPr lang="ko-KR" altLang="en-US" sz="2000" err="1">
                <a:ea typeface="맑은 고딕"/>
              </a:rPr>
              <a:t>step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부터는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Random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agent</a:t>
            </a:r>
            <a:r>
              <a:rPr lang="ko-KR" altLang="en-US" sz="2000">
                <a:ea typeface="맑은 고딕"/>
              </a:rPr>
              <a:t> -&gt; </a:t>
            </a:r>
            <a:r>
              <a:rPr lang="ko-KR" altLang="en-US" sz="2000" err="1">
                <a:ea typeface="맑은 고딕"/>
              </a:rPr>
              <a:t>Greedy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agent</a:t>
            </a:r>
            <a:r>
              <a:rPr lang="ko-KR" altLang="en-US" sz="2000">
                <a:ea typeface="맑은 고딕"/>
              </a:rPr>
              <a:t> 와 대결하면서 학습을 진행했기 때문에 </a:t>
            </a:r>
            <a:r>
              <a:rPr lang="ko-KR" altLang="en-US" sz="2000" err="1">
                <a:ea typeface="맑은 고딕"/>
              </a:rPr>
              <a:t>Loss</a:t>
            </a:r>
            <a:r>
              <a:rPr lang="ko-KR" altLang="en-US" sz="2000" dirty="0">
                <a:ea typeface="맑은 고딕"/>
              </a:rPr>
              <a:t> </a:t>
            </a:r>
            <a:r>
              <a:rPr lang="ko-KR" altLang="en-US" sz="2000" err="1">
                <a:ea typeface="맑은 고딕"/>
              </a:rPr>
              <a:t>graph의</a:t>
            </a:r>
            <a:r>
              <a:rPr lang="ko-KR" altLang="en-US" sz="2000">
                <a:ea typeface="맑은 고딕"/>
              </a:rPr>
              <a:t> 급격한 지점이 나온 것으로 보인다.</a:t>
            </a:r>
            <a:endParaRPr lang="ko-KR"/>
          </a:p>
        </p:txBody>
      </p:sp>
      <p:pic>
        <p:nvPicPr>
          <p:cNvPr id="7" name="그림 6" descr="텍스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BC5EE6-527A-B9BA-EFB8-ACCF63EC2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66" y="2743505"/>
            <a:ext cx="7416631" cy="397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04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279D9-3B70-C166-6366-3891FF44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0FA80B-30C6-29EE-FB29-C429FD45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토의 및 결론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CA5D3-06B1-99B0-0FBC-CB1104062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984"/>
            <a:ext cx="10515600" cy="44951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>
                <a:ea typeface="맑은 고딕"/>
              </a:rPr>
              <a:t>실험 결과에 대한 생각</a:t>
            </a:r>
            <a:endParaRPr lang="ko-KR" altLang="en-US">
              <a:ea typeface="맑은 고딕" panose="020B0503020000020004" pitchFamily="34" charset="-127"/>
            </a:endParaRPr>
          </a:p>
          <a:p>
            <a:pPr marL="0" indent="0">
              <a:buNone/>
            </a:pPr>
            <a:endParaRPr lang="ko-KR" altLang="en-US">
              <a:ea typeface="맑은 고딕"/>
            </a:endParaRPr>
          </a:p>
          <a:p>
            <a:r>
              <a:rPr lang="ko-KR" altLang="en-US" sz="2200">
                <a:ea typeface="맑은 고딕"/>
              </a:rPr>
              <a:t>게임 난이도의 한계 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sz="1700">
                <a:ea typeface="+mn-lt"/>
                <a:cs typeface="+mn-lt"/>
              </a:rPr>
              <a:t>학습된 에이전트는 랜덤 및 단순 </a:t>
            </a:r>
            <a:r>
              <a:rPr lang="ko-KR" sz="1700" err="1">
                <a:ea typeface="+mn-lt"/>
                <a:cs typeface="+mn-lt"/>
              </a:rPr>
              <a:t>그리디</a:t>
            </a:r>
            <a:r>
              <a:rPr lang="ko-KR" sz="1700">
                <a:ea typeface="+mn-lt"/>
                <a:cs typeface="+mn-lt"/>
              </a:rPr>
              <a:t> 상대에 대해서는 우위를 보였으나, 도메인 지식이 많이 들어간 휴리스틱 엔진에 대해서는 여전히 승패가 엇갈리는 수준이다.</a:t>
            </a:r>
            <a:endParaRPr lang="ko-KR" altLang="en-US" sz="1700">
              <a:ea typeface="맑은 고딕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1700">
                <a:ea typeface="+mn-lt"/>
                <a:cs typeface="+mn-lt"/>
              </a:rPr>
              <a:t>이는 </a:t>
            </a:r>
            <a:r>
              <a:rPr lang="en-US" altLang="ko-KR" sz="1700" err="1">
                <a:ea typeface="+mn-lt"/>
                <a:cs typeface="+mn-lt"/>
              </a:rPr>
              <a:t>ConneXion</a:t>
            </a:r>
            <a:r>
              <a:rPr lang="ko-KR" sz="1700">
                <a:ea typeface="+mn-lt"/>
                <a:cs typeface="+mn-lt"/>
              </a:rPr>
              <a:t> 게임의 상태 공간과 행동 공간이 매우 크고</a:t>
            </a:r>
            <a:r>
              <a:rPr lang="en-US" altLang="ko-KR" sz="1700">
                <a:ea typeface="+mn-lt"/>
                <a:cs typeface="+mn-lt"/>
              </a:rPr>
              <a:t>,</a:t>
            </a:r>
            <a:r>
              <a:rPr lang="ko-KR" sz="1700">
                <a:ea typeface="+mn-lt"/>
                <a:cs typeface="+mn-lt"/>
              </a:rPr>
              <a:t> 한 수의 영향이 최종 점수에 비선형적으로 반영되는 구조</a:t>
            </a:r>
            <a:r>
              <a:rPr lang="ko-KR" altLang="en-US" sz="1700">
                <a:ea typeface="+mn-lt"/>
                <a:cs typeface="+mn-lt"/>
              </a:rPr>
              <a:t> </a:t>
            </a:r>
            <a:r>
              <a:rPr lang="en-US" altLang="ko-KR" sz="1700">
                <a:ea typeface="+mn-lt"/>
                <a:cs typeface="+mn-lt"/>
              </a:rPr>
              <a:t>(각 </a:t>
            </a:r>
            <a:r>
              <a:rPr lang="en-US" altLang="ko-KR" sz="1700" err="1">
                <a:ea typeface="+mn-lt"/>
                <a:cs typeface="+mn-lt"/>
              </a:rPr>
              <a:t>연결</a:t>
            </a:r>
            <a:r>
              <a:rPr lang="en-US" altLang="ko-KR" sz="1700">
                <a:ea typeface="+mn-lt"/>
                <a:cs typeface="+mn-lt"/>
              </a:rPr>
              <a:t> </a:t>
            </a:r>
            <a:r>
              <a:rPr lang="en-US" altLang="ko-KR" sz="1700" err="1">
                <a:ea typeface="+mn-lt"/>
                <a:cs typeface="+mn-lt"/>
              </a:rPr>
              <a:t>구조</a:t>
            </a:r>
            <a:r>
              <a:rPr lang="en-US" altLang="ko-KR" sz="1700">
                <a:ea typeface="+mn-lt"/>
                <a:cs typeface="+mn-lt"/>
              </a:rPr>
              <a:t> </a:t>
            </a:r>
            <a:r>
              <a:rPr lang="en-US" altLang="ko-KR" sz="1700" err="1">
                <a:ea typeface="+mn-lt"/>
                <a:cs typeface="+mn-lt"/>
              </a:rPr>
              <a:t>크기의</a:t>
            </a:r>
            <a:r>
              <a:rPr lang="en-US" altLang="ko-KR" sz="1700">
                <a:ea typeface="+mn-lt"/>
                <a:cs typeface="+mn-lt"/>
              </a:rPr>
              <a:t> </a:t>
            </a:r>
            <a:r>
              <a:rPr lang="en-US" altLang="ko-KR" sz="1700" err="1">
                <a:ea typeface="+mn-lt"/>
                <a:cs typeface="+mn-lt"/>
              </a:rPr>
              <a:t>제곱만큼</a:t>
            </a:r>
            <a:r>
              <a:rPr lang="en-US" altLang="ko-KR" sz="1700">
                <a:ea typeface="+mn-lt"/>
                <a:cs typeface="+mn-lt"/>
              </a:rPr>
              <a:t> </a:t>
            </a:r>
            <a:r>
              <a:rPr lang="en-US" altLang="ko-KR" sz="1700" err="1">
                <a:ea typeface="+mn-lt"/>
                <a:cs typeface="+mn-lt"/>
              </a:rPr>
              <a:t>점수를</a:t>
            </a:r>
            <a:r>
              <a:rPr lang="en-US" altLang="ko-KR" sz="1700">
                <a:ea typeface="+mn-lt"/>
                <a:cs typeface="+mn-lt"/>
              </a:rPr>
              <a:t> </a:t>
            </a:r>
            <a:r>
              <a:rPr lang="en-US" altLang="ko-KR" sz="1700" err="1">
                <a:ea typeface="+mn-lt"/>
                <a:cs typeface="+mn-lt"/>
              </a:rPr>
              <a:t>어듬</a:t>
            </a:r>
            <a:r>
              <a:rPr lang="en-US" altLang="ko-KR" sz="1700">
                <a:ea typeface="+mn-lt"/>
                <a:cs typeface="+mn-lt"/>
              </a:rPr>
              <a:t>)</a:t>
            </a:r>
            <a:r>
              <a:rPr lang="ko-KR" sz="1700">
                <a:ea typeface="+mn-lt"/>
                <a:cs typeface="+mn-lt"/>
              </a:rPr>
              <a:t> 때문에 제한된 학습 데이터와 모델 용량만으로는 휴리스틱의 전략적 지식을 완전히 대체하기 어렵다는 점을 </a:t>
            </a:r>
            <a:r>
              <a:rPr lang="ko-KR" altLang="en-US" sz="1700">
                <a:ea typeface="+mn-lt"/>
                <a:cs typeface="+mn-lt"/>
              </a:rPr>
              <a:t>보여주었다.</a:t>
            </a:r>
            <a:endParaRPr lang="en-US" altLang="ko-KR" sz="1700">
              <a:ea typeface="맑은 고딕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sz="1700">
                <a:ea typeface="+mn-lt"/>
                <a:cs typeface="+mn-lt"/>
              </a:rPr>
              <a:t>1수 단기 점수에 강한 휴리스틱과의 하이브리드 구조는 전술적 실수를 줄여주는 장점이 있는 동시에, </a:t>
            </a:r>
            <a:r>
              <a:rPr lang="ko-KR" altLang="en-US" sz="1700">
                <a:ea typeface="+mn-lt"/>
                <a:cs typeface="+mn-lt"/>
              </a:rPr>
              <a:t>장기적으로 이득인 복잡한</a:t>
            </a:r>
            <a:r>
              <a:rPr lang="ko-KR" sz="1700">
                <a:ea typeface="+mn-lt"/>
                <a:cs typeface="+mn-lt"/>
              </a:rPr>
              <a:t> 전략을 </a:t>
            </a:r>
            <a:r>
              <a:rPr lang="ko-KR" sz="1700" err="1">
                <a:ea typeface="+mn-lt"/>
                <a:cs typeface="+mn-lt"/>
              </a:rPr>
              <a:t>RL이</a:t>
            </a:r>
            <a:r>
              <a:rPr lang="ko-KR" sz="1700">
                <a:ea typeface="+mn-lt"/>
                <a:cs typeface="+mn-lt"/>
              </a:rPr>
              <a:t> 적극적으로 탐색하기에는 제약이 될 수 있다.</a:t>
            </a:r>
            <a:endParaRPr lang="ko-KR" altLang="en-US" sz="1700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62925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1D88-670C-08A4-7137-4A17AB6D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68E3F-89BE-236A-947D-ADA2DDDB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토의 및 결론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0612B1-CC48-A57C-A651-085C25B1C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sz="2400">
                <a:ea typeface="맑은 고딕"/>
              </a:rPr>
              <a:t>보완 및 개선사항</a:t>
            </a:r>
            <a:endParaRPr lang="ko-KR" altLang="en-US" sz="2400">
              <a:ea typeface="맑은 고딕" panose="020B0503020000020004" pitchFamily="34" charset="-127"/>
            </a:endParaRPr>
          </a:p>
          <a:p>
            <a:endParaRPr lang="ko-KR" altLang="en-US" sz="22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ea typeface="+mn-lt"/>
                <a:cs typeface="+mn-lt"/>
              </a:rPr>
              <a:t>추론 시 </a:t>
            </a:r>
            <a:r>
              <a:rPr lang="ko-KR" sz="1600">
                <a:ea typeface="+mn-lt"/>
                <a:cs typeface="+mn-lt"/>
              </a:rPr>
              <a:t>에이전트는 </a:t>
            </a:r>
            <a:r>
              <a:rPr lang="en-US" altLang="ko-KR" sz="1600">
                <a:ea typeface="+mn-lt"/>
                <a:cs typeface="+mn-lt"/>
              </a:rPr>
              <a:t>PPO</a:t>
            </a:r>
            <a:r>
              <a:rPr lang="ko-KR" altLang="en-US" sz="1600">
                <a:ea typeface="+mn-lt"/>
                <a:cs typeface="+mn-lt"/>
              </a:rPr>
              <a:t> 정책 단독이 아니라</a:t>
            </a:r>
            <a:r>
              <a:rPr lang="en-US" altLang="ko-KR" sz="1600">
                <a:ea typeface="+mn-lt"/>
                <a:cs typeface="+mn-lt"/>
              </a:rPr>
              <a:t>,1</a:t>
            </a:r>
            <a:r>
              <a:rPr lang="ko-KR" altLang="en-US" sz="1600">
                <a:ea typeface="+mn-lt"/>
                <a:cs typeface="+mn-lt"/>
              </a:rPr>
              <a:t>수 탐색 기반 휴리스틱과 결합된 </a:t>
            </a:r>
            <a:r>
              <a:rPr lang="en-US" altLang="ko-KR" sz="1600">
                <a:ea typeface="+mn-lt"/>
                <a:cs typeface="+mn-lt"/>
              </a:rPr>
              <a:t>hybrid</a:t>
            </a:r>
            <a:r>
              <a:rPr lang="ko-KR" altLang="en-US" sz="1600">
                <a:ea typeface="+mn-lt"/>
                <a:cs typeface="+mn-lt"/>
              </a:rPr>
              <a:t> 정책으로 동작한다</a:t>
            </a:r>
            <a:r>
              <a:rPr lang="en-US" altLang="ko-KR" sz="1600">
                <a:ea typeface="+mn-lt"/>
                <a:cs typeface="+mn-lt"/>
              </a:rPr>
              <a:t>. </a:t>
            </a:r>
            <a:r>
              <a:rPr lang="ko-KR" altLang="en-US" sz="1600">
                <a:ea typeface="+mn-lt"/>
                <a:cs typeface="+mn-lt"/>
              </a:rPr>
              <a:t>이 구조는 </a:t>
            </a:r>
            <a:r>
              <a:rPr lang="ko-KR" sz="1600">
                <a:ea typeface="+mn-lt"/>
                <a:cs typeface="+mn-lt"/>
              </a:rPr>
              <a:t>휴리스틱 </a:t>
            </a:r>
            <a:r>
              <a:rPr lang="ko-KR" altLang="en-US" sz="1600">
                <a:ea typeface="+mn-lt"/>
                <a:cs typeface="+mn-lt"/>
              </a:rPr>
              <a:t>엔진이 보장하는 단기적인 점수 이득을 활용할 수 있다는 </a:t>
            </a:r>
            <a:r>
              <a:rPr lang="ko-KR" sz="1600">
                <a:ea typeface="+mn-lt"/>
                <a:cs typeface="+mn-lt"/>
              </a:rPr>
              <a:t>장점이 </a:t>
            </a:r>
            <a:r>
              <a:rPr lang="ko-KR" altLang="en-US" sz="1600">
                <a:ea typeface="+mn-lt"/>
                <a:cs typeface="+mn-lt"/>
              </a:rPr>
              <a:t>있으나</a:t>
            </a:r>
            <a:r>
              <a:rPr lang="ko-KR" sz="1600">
                <a:ea typeface="+mn-lt"/>
                <a:cs typeface="+mn-lt"/>
              </a:rPr>
              <a:t>,</a:t>
            </a:r>
            <a:r>
              <a:rPr lang="ko-KR" altLang="en-US" sz="1600">
                <a:ea typeface="+mn-lt"/>
                <a:cs typeface="+mn-lt"/>
              </a:rPr>
              <a:t> </a:t>
            </a:r>
            <a:r>
              <a:rPr lang="ko-KR" sz="1600">
                <a:ea typeface="+mn-lt"/>
                <a:cs typeface="+mn-lt"/>
              </a:rPr>
              <a:t>동시에 </a:t>
            </a:r>
            <a:r>
              <a:rPr lang="ko-KR" altLang="en-US" sz="1600">
                <a:ea typeface="+mn-lt"/>
                <a:cs typeface="+mn-lt"/>
              </a:rPr>
              <a:t>정책이 휴리스틱의 </a:t>
            </a:r>
            <a:r>
              <a:rPr lang="ko-KR" sz="1600">
                <a:ea typeface="+mn-lt"/>
                <a:cs typeface="+mn-lt"/>
              </a:rPr>
              <a:t>전략적 한계를 </a:t>
            </a:r>
            <a:r>
              <a:rPr lang="ko-KR" altLang="en-US" sz="1600">
                <a:ea typeface="+mn-lt"/>
                <a:cs typeface="+mn-lt"/>
              </a:rPr>
              <a:t>공유하게 된다는 한계도 </a:t>
            </a:r>
            <a:r>
              <a:rPr lang="ko-KR" sz="1600">
                <a:ea typeface="+mn-lt"/>
                <a:cs typeface="+mn-lt"/>
              </a:rPr>
              <a:t>가진다</a:t>
            </a:r>
            <a:r>
              <a:rPr lang="en-US" altLang="ko-KR" sz="1600">
                <a:ea typeface="+mn-lt"/>
                <a:cs typeface="+mn-lt"/>
              </a:rPr>
              <a:t>.</a:t>
            </a:r>
            <a:endParaRPr lang="ko-KR" sz="1600">
              <a:ea typeface="맑은 고딕"/>
            </a:endParaRPr>
          </a:p>
          <a:p>
            <a:pPr>
              <a:lnSpc>
                <a:spcPct val="150000"/>
              </a:lnSpc>
            </a:pPr>
            <a:endParaRPr lang="ko-KR" altLang="en-US" sz="16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sz="1600">
                <a:ea typeface="+mn-lt"/>
                <a:cs typeface="+mn-lt"/>
              </a:rPr>
              <a:t>특히, 각 턴마다 휴리스틱이 </a:t>
            </a:r>
            <a:r>
              <a:rPr lang="ko-KR" sz="1600" err="1">
                <a:ea typeface="+mn-lt"/>
                <a:cs typeface="+mn-lt"/>
              </a:rPr>
              <a:t>PPO의</a:t>
            </a:r>
            <a:r>
              <a:rPr lang="ko-KR" sz="1600">
                <a:ea typeface="+mn-lt"/>
                <a:cs typeface="+mn-lt"/>
              </a:rPr>
              <a:t> 선택을 “</a:t>
            </a:r>
            <a:r>
              <a:rPr lang="ko-KR" sz="1600" err="1">
                <a:ea typeface="+mn-lt"/>
                <a:cs typeface="+mn-lt"/>
              </a:rPr>
              <a:t>검열”하는</a:t>
            </a:r>
            <a:r>
              <a:rPr lang="ko-KR" sz="1600">
                <a:ea typeface="+mn-lt"/>
                <a:cs typeface="+mn-lt"/>
              </a:rPr>
              <a:t> 형태이기 때문에,</a:t>
            </a:r>
            <a:br>
              <a:rPr lang="ko-KR" sz="1600">
                <a:ea typeface="+mn-lt"/>
                <a:cs typeface="+mn-lt"/>
              </a:rPr>
            </a:br>
            <a:r>
              <a:rPr lang="ko-KR" sz="1600">
                <a:ea typeface="+mn-lt"/>
                <a:cs typeface="+mn-lt"/>
              </a:rPr>
              <a:t> </a:t>
            </a:r>
            <a:r>
              <a:rPr lang="ko-KR" sz="1600" err="1">
                <a:ea typeface="+mn-lt"/>
                <a:cs typeface="+mn-lt"/>
              </a:rPr>
              <a:t>PPO가</a:t>
            </a:r>
            <a:r>
              <a:rPr lang="ko-KR" sz="1600">
                <a:ea typeface="+mn-lt"/>
                <a:cs typeface="+mn-lt"/>
              </a:rPr>
              <a:t> 장기적인 관점에서 의미 있는 </a:t>
            </a:r>
            <a:r>
              <a:rPr lang="ko-KR" sz="1600" err="1">
                <a:ea typeface="+mn-lt"/>
                <a:cs typeface="+mn-lt"/>
              </a:rPr>
              <a:t>sacrifice</a:t>
            </a:r>
            <a:r>
              <a:rPr lang="ko-KR" sz="1600">
                <a:ea typeface="+mn-lt"/>
                <a:cs typeface="+mn-lt"/>
              </a:rPr>
              <a:t>(단기 손해 → 장기 이득)</a:t>
            </a:r>
            <a:r>
              <a:rPr lang="ko-KR" sz="1600" err="1">
                <a:ea typeface="+mn-lt"/>
                <a:cs typeface="+mn-lt"/>
              </a:rPr>
              <a:t>를</a:t>
            </a:r>
            <a:r>
              <a:rPr lang="ko-KR" sz="160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학습하더라도 해당</a:t>
            </a:r>
            <a:r>
              <a:rPr lang="ko-KR" sz="1600">
                <a:ea typeface="+mn-lt"/>
                <a:cs typeface="+mn-lt"/>
              </a:rPr>
              <a:t> 수가 즉시 점수 기준에서 크게 손해로 평가되면 실제 게임에서는 선택되지 않을 수 있다. </a:t>
            </a:r>
            <a:r>
              <a:rPr lang="ko-KR" altLang="en-US" sz="1600">
                <a:ea typeface="+mn-lt"/>
                <a:cs typeface="+mn-lt"/>
              </a:rPr>
              <a:t>이런</a:t>
            </a:r>
            <a:r>
              <a:rPr lang="ko-KR" sz="1600">
                <a:ea typeface="+mn-lt"/>
                <a:cs typeface="+mn-lt"/>
              </a:rPr>
              <a:t> 구조는 장기적 전략 학습을 제한할 가능성이 있다</a:t>
            </a:r>
            <a:r>
              <a:rPr lang="en-US" altLang="ko-KR" sz="1600">
                <a:ea typeface="+mn-lt"/>
                <a:cs typeface="+mn-lt"/>
              </a:rPr>
              <a:t>.</a:t>
            </a:r>
            <a:endParaRPr lang="ko-KR" altLang="en-US" sz="16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8468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B62A-F0C5-1EDD-9D4C-A29463D7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0A8E7-22BC-D150-E69E-056937CB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토의 및 결론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2CC3F-D0AF-1EB1-16F3-70582D7B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>
                <a:ea typeface="맑은 고딕"/>
              </a:rPr>
              <a:t>개선사항 아이디어</a:t>
            </a:r>
            <a:endParaRPr lang="ko-KR" altLang="en-US">
              <a:ea typeface="맑은 고딕" panose="020B0503020000020004" pitchFamily="34" charset="-127"/>
            </a:endParaRPr>
          </a:p>
          <a:p>
            <a:pPr marL="0" indent="0">
              <a:buNone/>
            </a:pPr>
            <a:endParaRPr lang="ko-KR" alt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sz="1900">
                <a:ea typeface="+mn-lt"/>
                <a:cs typeface="+mn-lt"/>
              </a:rPr>
              <a:t>모델 구조 확장 </a:t>
            </a:r>
            <a:endParaRPr lang="en-US" altLang="ko-KR" sz="2000">
              <a:latin typeface="Malgun Gothic"/>
              <a:ea typeface="Malgun Gothic"/>
            </a:endParaRPr>
          </a:p>
          <a:p>
            <a:pPr lvl="1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  <a:cs typeface="+mn-lt"/>
              </a:rPr>
              <a:t>8×8 ResNet-5 구조에서 더 나아가, 보드 칸들 사이의 관계를 표현하는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self-attention</a:t>
            </a:r>
            <a:r>
              <a:rPr lang="ko-KR" sz="1600">
                <a:latin typeface="Malgun Gothic"/>
                <a:ea typeface="Malgun Gothic"/>
                <a:cs typeface="+mn-lt"/>
              </a:rPr>
              <a:t> 및 GNN 도입</a:t>
            </a:r>
            <a:endParaRPr lang="en-US" altLang="ko-KR" sz="1600">
              <a:latin typeface="Malgun Gothic"/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ko-KR" sz="1600">
                <a:latin typeface="Malgun Gothic"/>
                <a:ea typeface="Malgun Gothic"/>
                <a:cs typeface="+mn-lt"/>
              </a:rPr>
              <a:t>회전/대칭 불변성을 반영한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data</a:t>
            </a:r>
            <a:r>
              <a:rPr lang="ko-KR" sz="1600">
                <a:latin typeface="Malgun Gothic"/>
                <a:ea typeface="Malgun Gothic"/>
                <a:cs typeface="+mn-lt"/>
              </a:rPr>
              <a:t> </a:t>
            </a:r>
            <a:r>
              <a:rPr lang="ko-KR" sz="1600" err="1">
                <a:latin typeface="Malgun Gothic"/>
                <a:ea typeface="Malgun Gothic"/>
                <a:cs typeface="+mn-lt"/>
              </a:rPr>
              <a:t>augmentation</a:t>
            </a:r>
            <a:r>
              <a:rPr lang="ko-KR" sz="1600">
                <a:latin typeface="Malgun Gothic"/>
                <a:ea typeface="Malgun Gothic"/>
                <a:cs typeface="+mn-lt"/>
              </a:rPr>
              <a:t> 등을 통해 큰 상태 공간에서의 전략 패턴 인식 능력을 강화하는 것을 향후 과제로 삼을 수 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있다</a:t>
            </a:r>
            <a:r>
              <a:rPr lang="en-US" altLang="ko-KR" sz="1600">
                <a:latin typeface="Malgun Gothic"/>
                <a:ea typeface="Malgun Gothic"/>
                <a:cs typeface="+mn-lt"/>
              </a:rPr>
              <a:t>.</a:t>
            </a:r>
            <a:endParaRPr lang="ko-KR"/>
          </a:p>
          <a:p>
            <a:pPr>
              <a:lnSpc>
                <a:spcPct val="150000"/>
              </a:lnSpc>
            </a:pPr>
            <a:endParaRPr lang="ko-KR" altLang="en-US" sz="22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sz="1900">
                <a:ea typeface="+mn-lt"/>
                <a:cs typeface="+mn-lt"/>
              </a:rPr>
              <a:t>휴리스틱–PPO 하이브리드 </a:t>
            </a:r>
            <a:r>
              <a:rPr lang="ko-KR" altLang="en-US" sz="1900">
                <a:ea typeface="+mn-lt"/>
                <a:cs typeface="+mn-lt"/>
              </a:rPr>
              <a:t>의사결정</a:t>
            </a:r>
            <a:r>
              <a:rPr lang="ko-KR" sz="1900">
                <a:ea typeface="+mn-lt"/>
                <a:cs typeface="+mn-lt"/>
              </a:rPr>
              <a:t> 구조 개선</a:t>
            </a:r>
            <a:endParaRPr lang="ko-KR" altLang="en-US" sz="1900" b="1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ko-KR" altLang="en-US" sz="1600">
                <a:latin typeface="Malgun Gothic"/>
                <a:ea typeface="Malgun Gothic"/>
                <a:cs typeface="+mn-lt"/>
              </a:rPr>
              <a:t>게임 </a:t>
            </a:r>
            <a:r>
              <a:rPr lang="ko-KR" altLang="en-US" sz="1600" err="1">
                <a:latin typeface="Malgun Gothic"/>
                <a:ea typeface="Malgun Gothic"/>
                <a:cs typeface="+mn-lt"/>
              </a:rPr>
              <a:t>진행도·점수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 상황에 따른 적응형 </a:t>
            </a:r>
            <a:r>
              <a:rPr lang="ko-KR" altLang="en-US" sz="1600" err="1">
                <a:latin typeface="Malgun Gothic"/>
                <a:ea typeface="Malgun Gothic"/>
                <a:cs typeface="+mn-lt"/>
              </a:rPr>
              <a:t>threshold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 적용</a:t>
            </a:r>
            <a:endParaRPr lang="en-US" altLang="ko-KR" sz="1600">
              <a:latin typeface="맑은 고딕"/>
              <a:ea typeface="맑은 고딕"/>
              <a:cs typeface="+mn-lt"/>
            </a:endParaRPr>
          </a:p>
          <a:p>
            <a:pPr lvl="1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ko-KR" altLang="en-US" sz="1600">
                <a:latin typeface="Malgun Gothic"/>
                <a:ea typeface="Malgun Gothic"/>
                <a:cs typeface="+mn-lt"/>
              </a:rPr>
              <a:t>모든 수를 탐색하기보다는, </a:t>
            </a:r>
            <a:r>
              <a:rPr lang="ko-KR" altLang="en-US" sz="1600" err="1">
                <a:latin typeface="Malgun Gothic"/>
                <a:ea typeface="Malgun Gothic"/>
                <a:cs typeface="+mn-lt"/>
              </a:rPr>
              <a:t>PPO가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 제안한 상위 </a:t>
            </a:r>
            <a:r>
              <a:rPr lang="ko-KR" altLang="en-US" sz="1600" err="1">
                <a:latin typeface="Malgun Gothic"/>
                <a:ea typeface="Malgun Gothic"/>
                <a:cs typeface="+mn-lt"/>
              </a:rPr>
              <a:t>Top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-K 행동만 휴리스틱으로 검증해 </a:t>
            </a:r>
            <a:r>
              <a:rPr lang="ko-KR" altLang="en-US" sz="1600" err="1">
                <a:latin typeface="Malgun Gothic"/>
                <a:ea typeface="Malgun Gothic"/>
                <a:cs typeface="+mn-lt"/>
              </a:rPr>
              <a:t>PPO의</a:t>
            </a:r>
            <a:r>
              <a:rPr lang="ko-KR" altLang="en-US" sz="1600">
                <a:latin typeface="Malgun Gothic"/>
                <a:ea typeface="Malgun Gothic"/>
                <a:cs typeface="+mn-lt"/>
              </a:rPr>
              <a:t> 영향력을 키움</a:t>
            </a:r>
            <a:endParaRPr lang="ko-KR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ko-KR" sz="1600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sz="1600">
              <a:latin typeface="Malgun Gothic"/>
              <a:ea typeface="Malgun Gothic"/>
              <a:cs typeface="+mn-lt"/>
            </a:endParaRPr>
          </a:p>
          <a:p>
            <a:endParaRPr lang="ko-KR" altLang="en-US" sz="2200">
              <a:ea typeface="+mn-lt"/>
              <a:cs typeface="+mn-lt"/>
            </a:endParaRPr>
          </a:p>
          <a:p>
            <a:endParaRPr lang="ko-KR" alt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7834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B60E-6869-2BE7-FE9B-42040283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691A1-5F44-69AC-0F5C-199703BF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토의 및 결론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38C50-97E9-542F-7F1B-832F7B6B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sz="2400">
                <a:ea typeface="맑은 고딕"/>
              </a:rPr>
              <a:t>개선사항 아이디어</a:t>
            </a:r>
            <a:endParaRPr lang="ko-KR" altLang="en-US" sz="2400">
              <a:ea typeface="맑은 고딕" panose="020B0503020000020004" pitchFamily="34" charset="-127"/>
            </a:endParaRPr>
          </a:p>
          <a:p>
            <a:pPr marL="0" indent="0">
              <a:buNone/>
            </a:pPr>
            <a:endParaRPr lang="ko-KR" alt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sz="1700">
                <a:latin typeface="Malgun Gothic"/>
                <a:ea typeface="+mn-lt"/>
                <a:cs typeface="+mn-lt"/>
              </a:rPr>
              <a:t>Imitation</a:t>
            </a:r>
            <a:r>
              <a:rPr lang="ko-KR" altLang="en-US" sz="1700" dirty="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700">
                <a:latin typeface="Arial"/>
                <a:ea typeface="Malgun Gothic"/>
                <a:cs typeface="+mn-lt"/>
              </a:rPr>
              <a:t>Learning</a:t>
            </a:r>
            <a:r>
              <a:rPr lang="ko-KR" altLang="en-US" sz="1700" dirty="0">
                <a:latin typeface="Malgun Gothic"/>
                <a:ea typeface="Malgun Gothic"/>
                <a:cs typeface="+mn-lt"/>
              </a:rPr>
              <a:t> </a:t>
            </a:r>
            <a:endParaRPr lang="en-US" sz="1700" dirty="0">
              <a:latin typeface="Arial"/>
              <a:ea typeface="Malgun Gothic"/>
            </a:endParaRPr>
          </a:p>
          <a:p>
            <a:pPr lvl="1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ko-KR" altLang="en-US" sz="1700">
                <a:latin typeface="Malgun Gothic"/>
                <a:ea typeface="Malgun Gothic"/>
                <a:cs typeface="+mn-lt"/>
              </a:rPr>
              <a:t>사전학습과 </a:t>
            </a:r>
            <a:r>
              <a:rPr lang="en-US" altLang="ko-KR" sz="1700">
                <a:latin typeface="Arial"/>
                <a:ea typeface="Malgun Gothic"/>
                <a:cs typeface="+mn-lt"/>
              </a:rPr>
              <a:t>DAgger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를 도입하여</a:t>
            </a:r>
            <a:r>
              <a:rPr lang="ko-KR" sz="1700">
                <a:latin typeface="Malgun Gothic"/>
                <a:ea typeface="Malgun Gothic"/>
                <a:cs typeface="+mn-lt"/>
              </a:rPr>
              <a:t>, 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휴리스틱 또는 인간 전문가의</a:t>
            </a:r>
            <a:r>
              <a:rPr lang="ko-KR" sz="1700" dirty="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전략적</a:t>
            </a:r>
            <a:r>
              <a:rPr lang="ko-KR" sz="1700" dirty="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패턴을 정책에 직접 </a:t>
            </a:r>
            <a:r>
              <a:rPr lang="ko-KR" sz="1700">
                <a:latin typeface="Malgun Gothic"/>
                <a:ea typeface="Malgun Gothic"/>
                <a:cs typeface="+mn-lt"/>
              </a:rPr>
              <a:t>내재화하는 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개선이 가능하다</a:t>
            </a:r>
            <a:r>
              <a:rPr lang="en-US" altLang="ko-KR" sz="1700">
                <a:latin typeface="Malgun Gothic"/>
                <a:ea typeface="Malgun Gothic"/>
                <a:cs typeface="+mn-lt"/>
              </a:rPr>
              <a:t>.</a:t>
            </a:r>
            <a:r>
              <a:rPr lang="ko-KR" altLang="en-US" sz="1700" dirty="0">
                <a:latin typeface="Malgun Gothic"/>
                <a:ea typeface="Malgun Gothic"/>
                <a:cs typeface="+mn-lt"/>
              </a:rPr>
              <a:t> </a:t>
            </a:r>
            <a:endParaRPr lang="en-US" altLang="ko-KR" sz="1700" dirty="0">
              <a:latin typeface="Malgun Gothic"/>
            </a:endParaRPr>
          </a:p>
          <a:p>
            <a:pPr lvl="1">
              <a:lnSpc>
                <a:spcPct val="150000"/>
              </a:lnSpc>
              <a:buFont typeface="Courier New,monospace" panose="020B0604020202020204" pitchFamily="34" charset="0"/>
              <a:buChar char="o"/>
            </a:pPr>
            <a:r>
              <a:rPr lang="ko-KR" sz="1700">
                <a:latin typeface="Malgun Gothic"/>
                <a:ea typeface="Malgun Gothic"/>
                <a:cs typeface="+mn-lt"/>
              </a:rPr>
              <a:t>실험 도중 휴리스틱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 에이전트를 </a:t>
            </a:r>
            <a:r>
              <a:rPr lang="en-US" altLang="ko-KR" sz="1700">
                <a:latin typeface="Malgun Gothic"/>
                <a:ea typeface="Malgun Gothic"/>
                <a:cs typeface="+mn-lt"/>
              </a:rPr>
              <a:t>Imitation</a:t>
            </a:r>
            <a:r>
              <a:rPr lang="ko-KR" altLang="en-US" sz="1700" dirty="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700">
                <a:latin typeface="Malgun Gothic"/>
                <a:ea typeface="Malgun Gothic"/>
                <a:cs typeface="+mn-lt"/>
              </a:rPr>
              <a:t>Learning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 하는 아이디어를 도입하여 구현하였지만</a:t>
            </a:r>
            <a:r>
              <a:rPr lang="ko-KR" sz="1700">
                <a:latin typeface="Malgun Gothic"/>
                <a:ea typeface="Malgun Gothic"/>
                <a:cs typeface="+mn-lt"/>
              </a:rPr>
              <a:t>, 결과가 좋지는 않았으나 연구를 통해 보완할 수 </a:t>
            </a:r>
            <a:r>
              <a:rPr lang="ko-KR" altLang="en-US" sz="1700">
                <a:latin typeface="Malgun Gothic"/>
                <a:ea typeface="Malgun Gothic"/>
                <a:cs typeface="+mn-lt"/>
              </a:rPr>
              <a:t>있을</a:t>
            </a:r>
            <a:r>
              <a:rPr lang="ko-KR" sz="1700">
                <a:latin typeface="Malgun Gothic"/>
                <a:ea typeface="Malgun Gothic"/>
                <a:cs typeface="+mn-lt"/>
              </a:rPr>
              <a:t> 것이다.</a:t>
            </a:r>
            <a:endParaRPr lang="ko-KR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ko-KR" sz="1600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sz="1600">
              <a:latin typeface="Malgun Gothic"/>
              <a:ea typeface="Malgun Gothic"/>
              <a:cs typeface="+mn-lt"/>
            </a:endParaRPr>
          </a:p>
          <a:p>
            <a:endParaRPr lang="ko-KR" altLang="en-US" sz="2200">
              <a:ea typeface="+mn-lt"/>
              <a:cs typeface="+mn-lt"/>
            </a:endParaRPr>
          </a:p>
          <a:p>
            <a:endParaRPr lang="ko-KR" alt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519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36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테마</vt:lpstr>
      <vt:lpstr>CSEG516 강화학습개론 프로젝트</vt:lpstr>
      <vt:lpstr>목차</vt:lpstr>
      <vt:lpstr>프로젝트  선정 동기</vt:lpstr>
      <vt:lpstr>프로젝트 주제 - Connexion</vt:lpstr>
      <vt:lpstr>프로젝트 주제 - Connexion</vt:lpstr>
      <vt:lpstr>프로젝트 주제 - Connexion</vt:lpstr>
      <vt:lpstr>프로젝트 주제 - Connexion</vt:lpstr>
      <vt:lpstr>프로젝트 주제 - Connexion</vt:lpstr>
      <vt:lpstr>프로젝트 주제 - Connexion</vt:lpstr>
      <vt:lpstr>프로젝트 및 목표</vt:lpstr>
      <vt:lpstr>환경 및 데이터셋 정의 </vt:lpstr>
      <vt:lpstr>환경 및 데이터셋 정의 </vt:lpstr>
      <vt:lpstr>환경 및 데이터셋 정의 </vt:lpstr>
      <vt:lpstr>환경 및 데이터셋 정의 </vt:lpstr>
      <vt:lpstr>환경 및 데이터셋 정의 </vt:lpstr>
      <vt:lpstr>PPO 알고리즘</vt:lpstr>
      <vt:lpstr>Hyperparameter </vt:lpstr>
      <vt:lpstr>Action space</vt:lpstr>
      <vt:lpstr>보상 함수 및 점수 계산</vt:lpstr>
      <vt:lpstr>Opponent Agent Policy</vt:lpstr>
      <vt:lpstr>구현 환경</vt:lpstr>
      <vt:lpstr>평가 방식 &amp; 비교 조건</vt:lpstr>
      <vt:lpstr>Agent Architecture</vt:lpstr>
      <vt:lpstr>Agent Architecture</vt:lpstr>
      <vt:lpstr>실험 결과 예시 로그</vt:lpstr>
      <vt:lpstr>실험 결과 예시 로그</vt:lpstr>
      <vt:lpstr>실험 결과 예시 로그</vt:lpstr>
      <vt:lpstr>실험 결과</vt:lpstr>
      <vt:lpstr>PPO vs Random agent</vt:lpstr>
      <vt:lpstr>PPO vs Sample agent</vt:lpstr>
      <vt:lpstr>PPO vs Heuristic agent</vt:lpstr>
      <vt:lpstr>PPO Loss for training</vt:lpstr>
      <vt:lpstr>토의 및 결론</vt:lpstr>
      <vt:lpstr>토의 및 결론</vt:lpstr>
      <vt:lpstr>토의 및 결론</vt:lpstr>
      <vt:lpstr>토의 및 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427</cp:revision>
  <dcterms:created xsi:type="dcterms:W3CDTF">2025-12-05T05:21:59Z</dcterms:created>
  <dcterms:modified xsi:type="dcterms:W3CDTF">2025-12-06T11:44:08Z</dcterms:modified>
</cp:coreProperties>
</file>